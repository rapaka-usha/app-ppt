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20.jpg" ContentType="image/jpg"/>
  <Override PartName="/ppt/media/image21.jpg" ContentType="image/jpg"/>
  <Override PartName="/ppt/media/image22.jpg" ContentType="image/jpg"/>
  <Override PartName="/ppt/media/image23.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50" r:id="rId1"/>
  </p:sldMasterIdLst>
  <p:sldIdLst>
    <p:sldId id="256" r:id="rId2"/>
    <p:sldId id="260" r:id="rId3"/>
    <p:sldId id="261" r:id="rId4"/>
    <p:sldId id="262" r:id="rId5"/>
    <p:sldId id="258" r:id="rId6"/>
    <p:sldId id="259" r:id="rId7"/>
    <p:sldId id="264"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3171485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0924063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629099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438144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9/12/2023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127350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1754784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9/12/2023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2822681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9224353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033782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846059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2077754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4737033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79706436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3A1C593-65D0-4073-BCC9-577B9352EA97}" type="datetimeFigureOut">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0029607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3A1C593-65D0-4073-BCC9-577B9352EA97}" type="datetimeFigureOut">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62121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0186112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3630162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3A1C593-65D0-4073-BCC9-577B9352EA97}" type="datetimeFigureOut">
              <a:rPr lang="en-US" smtClean="0"/>
              <a:t>9/12/2023</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52155584"/>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peakerdeck.com/passsy/flutter-60-fps-ui-of-the-future" TargetMode="External"/><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14730" y="3797300"/>
            <a:ext cx="10163810" cy="1470025"/>
          </a:xfrm>
        </p:spPr>
        <p:txBody>
          <a:bodyPr>
            <a:normAutofit/>
          </a:bodyPr>
          <a:lstStyle/>
          <a:p>
            <a:r>
              <a:rPr lang="en-IN" altLang="en-US" sz="7200" dirty="0">
                <a:latin typeface="Times New Roman" panose="02020603050405020304" charset="0"/>
                <a:cs typeface="Times New Roman" panose="02020603050405020304" charset="0"/>
              </a:rPr>
              <a:t>Introduction to Flutter</a:t>
            </a:r>
          </a:p>
        </p:txBody>
      </p:sp>
      <p:pic>
        <p:nvPicPr>
          <p:cNvPr id="6" name="Picture 5" descr="flutter-logo_drzj7u"/>
          <p:cNvPicPr>
            <a:picLocks noChangeAspect="1"/>
          </p:cNvPicPr>
          <p:nvPr/>
        </p:nvPicPr>
        <p:blipFill>
          <a:blip r:embed="rId2"/>
          <a:stretch>
            <a:fillRect/>
          </a:stretch>
        </p:blipFill>
        <p:spPr>
          <a:xfrm>
            <a:off x="4800600" y="1128104"/>
            <a:ext cx="2152488" cy="26691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23761"/>
            <a:ext cx="10353762" cy="970450"/>
          </a:xfrm>
        </p:spPr>
        <p:txBody>
          <a:bodyPr>
            <a:noAutofit/>
          </a:bodyPr>
          <a:lstStyle/>
          <a:p>
            <a:r>
              <a:rPr lang="en-US" sz="6000" dirty="0" smtClean="0">
                <a:latin typeface="Times New Roman" panose="02020603050405020304" pitchFamily="18" charset="0"/>
                <a:cs typeface="Times New Roman" panose="02020603050405020304" pitchFamily="18" charset="0"/>
              </a:rPr>
              <a:t>Flutter</a:t>
            </a:r>
            <a:endParaRPr lang="en-US" sz="6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600201"/>
            <a:ext cx="10972800" cy="1282699"/>
          </a:xfrm>
        </p:spPr>
        <p:txBody>
          <a:bodyPr>
            <a:normAutofit/>
          </a:bodyPr>
          <a:lstStyle/>
          <a:p>
            <a:r>
              <a:rPr lang="en-IN" altLang="en-US" sz="2800" dirty="0">
                <a:latin typeface="Times New Roman" panose="02020603050405020304" pitchFamily="18" charset="0"/>
                <a:cs typeface="Times New Roman" panose="02020603050405020304" pitchFamily="18" charset="0"/>
              </a:rPr>
              <a:t>Flutter </a:t>
            </a:r>
            <a:r>
              <a:rPr lang="en-IN" altLang="en-US" sz="2800" dirty="0" smtClean="0">
                <a:latin typeface="Times New Roman" panose="02020603050405020304" pitchFamily="18" charset="0"/>
                <a:cs typeface="Times New Roman" panose="02020603050405020304" pitchFamily="18" charset="0"/>
              </a:rPr>
              <a:t>is framework created </a:t>
            </a:r>
            <a:r>
              <a:rPr lang="en-IN" altLang="en-US" sz="2800" dirty="0">
                <a:latin typeface="Times New Roman" panose="02020603050405020304" pitchFamily="18" charset="0"/>
                <a:cs typeface="Times New Roman" panose="02020603050405020304" pitchFamily="18" charset="0"/>
              </a:rPr>
              <a:t>by </a:t>
            </a:r>
            <a:r>
              <a:rPr lang="en-IN" altLang="en-US" sz="2800" b="1" dirty="0" smtClean="0">
                <a:latin typeface="Times New Roman" panose="02020603050405020304" pitchFamily="18" charset="0"/>
                <a:cs typeface="Times New Roman" panose="02020603050405020304" pitchFamily="18" charset="0"/>
              </a:rPr>
              <a:t>google.</a:t>
            </a:r>
          </a:p>
          <a:p>
            <a:r>
              <a:rPr lang="en-IN" altLang="en-US" sz="2800" dirty="0" smtClean="0">
                <a:latin typeface="Times New Roman" panose="02020603050405020304" pitchFamily="18" charset="0"/>
                <a:cs typeface="Times New Roman" panose="02020603050405020304" pitchFamily="18" charset="0"/>
              </a:rPr>
              <a:t>A cross-platform framework used to develop application for </a:t>
            </a:r>
          </a:p>
        </p:txBody>
      </p:sp>
      <p:sp>
        <p:nvSpPr>
          <p:cNvPr id="5" name="Content Placeholder 2"/>
          <p:cNvSpPr txBox="1">
            <a:spLocks/>
          </p:cNvSpPr>
          <p:nvPr/>
        </p:nvSpPr>
        <p:spPr>
          <a:xfrm>
            <a:off x="609600" y="4865330"/>
            <a:ext cx="10972800" cy="1282699"/>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ltLang="en-US" dirty="0" smtClean="0">
              <a:latin typeface="Times New Roman" panose="02020603050405020304" pitchFamily="18" charset="0"/>
              <a:cs typeface="Times New Roman" panose="02020603050405020304" pitchFamily="18" charset="0"/>
            </a:endParaRPr>
          </a:p>
        </p:txBody>
      </p:sp>
      <p:sp>
        <p:nvSpPr>
          <p:cNvPr id="6" name="Content Placeholder 2"/>
          <p:cNvSpPr txBox="1">
            <a:spLocks/>
          </p:cNvSpPr>
          <p:nvPr/>
        </p:nvSpPr>
        <p:spPr>
          <a:xfrm>
            <a:off x="609600" y="5506679"/>
            <a:ext cx="10972800" cy="1282699"/>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IN" altLang="en-US" sz="2400" dirty="0">
                <a:latin typeface="Times New Roman" panose="02020603050405020304" pitchFamily="18" charset="0"/>
                <a:cs typeface="Times New Roman" panose="02020603050405020304" pitchFamily="18" charset="0"/>
              </a:rPr>
              <a:t>Dart Programming language</a:t>
            </a:r>
          </a:p>
        </p:txBody>
      </p:sp>
      <p:sp>
        <p:nvSpPr>
          <p:cNvPr id="7" name="Content Placeholder 2"/>
          <p:cNvSpPr txBox="1">
            <a:spLocks/>
          </p:cNvSpPr>
          <p:nvPr/>
        </p:nvSpPr>
        <p:spPr>
          <a:xfrm>
            <a:off x="1205895" y="2710901"/>
            <a:ext cx="5118705" cy="2326429"/>
          </a:xfrm>
          <a:prstGeom prst="rect">
            <a:avLst/>
          </a:prstGeom>
          <a:effectLst>
            <a:outerShdw blurRad="25400" dir="17880000">
              <a:srgbClr val="000000">
                <a:alpha val="46000"/>
              </a:srgbClr>
            </a:outerShdw>
          </a:effectLst>
        </p:spPr>
        <p:txBody>
          <a:bodyPr vert="horz" lIns="91440" tIns="45720" rIns="91440" bIns="45720" rtlCol="0" anchor="t">
            <a:no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285750" indent="-285750">
              <a:lnSpc>
                <a:spcPct val="150000"/>
              </a:lnSpc>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Android</a:t>
            </a:r>
          </a:p>
          <a:p>
            <a:pPr marL="285750" indent="-285750">
              <a:lnSpc>
                <a:spcPct val="150000"/>
              </a:lnSpc>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iOS</a:t>
            </a:r>
          </a:p>
          <a:p>
            <a:pPr marL="285750" indent="-285750">
              <a:lnSpc>
                <a:spcPct val="150000"/>
              </a:lnSpc>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a:t>
            </a:r>
          </a:p>
          <a:p>
            <a:pPr marL="285750" indent="-285750">
              <a:lnSpc>
                <a:spcPct val="150000"/>
              </a:lnSpc>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and Desktop</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2059" y="2279197"/>
            <a:ext cx="8140095" cy="4578803"/>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2059" y="5037330"/>
            <a:ext cx="1118049" cy="1118049"/>
          </a:xfrm>
          <a:prstGeom prst="rect">
            <a:avLst/>
          </a:prstGeom>
        </p:spPr>
      </p:pic>
    </p:spTree>
    <p:extLst>
      <p:ext uri="{BB962C8B-B14F-4D97-AF65-F5344CB8AC3E}">
        <p14:creationId xmlns:p14="http://schemas.microsoft.com/office/powerpoint/2010/main" val="3507140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900" y="0"/>
            <a:ext cx="10972800" cy="1143000"/>
          </a:xfrm>
        </p:spPr>
        <p:txBody>
          <a:bodyPr/>
          <a:lstStyle/>
          <a:p>
            <a:r>
              <a:rPr lang="en-US" dirty="0" smtClean="0"/>
              <a:t>Why Flutter for App Development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580426545"/>
              </p:ext>
            </p:extLst>
          </p:nvPr>
        </p:nvGraphicFramePr>
        <p:xfrm>
          <a:off x="247650" y="1282700"/>
          <a:ext cx="11671299" cy="370840"/>
        </p:xfrm>
        <a:graphic>
          <a:graphicData uri="http://schemas.openxmlformats.org/drawingml/2006/table">
            <a:tbl>
              <a:tblPr firstRow="1" bandRow="1">
                <a:effectLst/>
                <a:tableStyleId>{5C22544A-7EE6-4342-B048-85BDC9FD1C3A}</a:tableStyleId>
              </a:tblPr>
              <a:tblGrid>
                <a:gridCol w="3890433">
                  <a:extLst>
                    <a:ext uri="{9D8B030D-6E8A-4147-A177-3AD203B41FA5}">
                      <a16:colId xmlns:a16="http://schemas.microsoft.com/office/drawing/2014/main" val="2572758151"/>
                    </a:ext>
                  </a:extLst>
                </a:gridCol>
                <a:gridCol w="3890433">
                  <a:extLst>
                    <a:ext uri="{9D8B030D-6E8A-4147-A177-3AD203B41FA5}">
                      <a16:colId xmlns:a16="http://schemas.microsoft.com/office/drawing/2014/main" val="3018465879"/>
                    </a:ext>
                  </a:extLst>
                </a:gridCol>
                <a:gridCol w="3890433">
                  <a:extLst>
                    <a:ext uri="{9D8B030D-6E8A-4147-A177-3AD203B41FA5}">
                      <a16:colId xmlns:a16="http://schemas.microsoft.com/office/drawing/2014/main" val="126330928"/>
                    </a:ext>
                  </a:extLst>
                </a:gridCol>
              </a:tblGrid>
              <a:tr h="370840">
                <a:tc>
                  <a:txBody>
                    <a:bodyPr/>
                    <a:lstStyle/>
                    <a:p>
                      <a:pPr algn="ctr"/>
                      <a:r>
                        <a:rPr lang="en-US" b="0" cap="none" spc="0" dirty="0" smtClean="0">
                          <a:ln w="0"/>
                          <a:solidFill>
                            <a:schemeClr val="bg1"/>
                          </a:solidFill>
                          <a:effectLst>
                            <a:outerShdw blurRad="38100" dist="19050" dir="2700000" algn="tl" rotWithShape="0">
                              <a:schemeClr val="dk1">
                                <a:alpha val="40000"/>
                              </a:schemeClr>
                            </a:outerShdw>
                          </a:effectLst>
                        </a:rPr>
                        <a:t>1. Open</a:t>
                      </a:r>
                      <a:r>
                        <a:rPr lang="en-US" b="0" cap="none" spc="0" baseline="0" dirty="0" smtClean="0">
                          <a:ln w="0"/>
                          <a:solidFill>
                            <a:schemeClr val="bg1"/>
                          </a:solidFill>
                          <a:effectLst>
                            <a:outerShdw blurRad="38100" dist="19050" dir="2700000" algn="tl" rotWithShape="0">
                              <a:schemeClr val="dk1">
                                <a:alpha val="40000"/>
                              </a:schemeClr>
                            </a:outerShdw>
                          </a:effectLst>
                        </a:rPr>
                        <a:t> Source</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75000"/>
                      </a:schemeClr>
                    </a:solidFill>
                  </a:tcPr>
                </a:tc>
                <a:tc>
                  <a:txBody>
                    <a:bodyPr/>
                    <a:lstStyle/>
                    <a:p>
                      <a:pPr algn="ctr"/>
                      <a:r>
                        <a:rPr lang="en-US" b="0" cap="none" spc="0" dirty="0" smtClean="0">
                          <a:ln w="0"/>
                          <a:solidFill>
                            <a:schemeClr val="bg1"/>
                          </a:solidFill>
                          <a:effectLst>
                            <a:outerShdw blurRad="38100" dist="19050" dir="2700000" algn="tl" rotWithShape="0">
                              <a:schemeClr val="dk1">
                                <a:alpha val="40000"/>
                              </a:schemeClr>
                            </a:outerShdw>
                          </a:effectLst>
                        </a:rPr>
                        <a:t>2. Faster development Cycle</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85000"/>
                      </a:schemeClr>
                    </a:solidFill>
                  </a:tcPr>
                </a:tc>
                <a:tc>
                  <a:txBody>
                    <a:bodyPr/>
                    <a:lstStyle/>
                    <a:p>
                      <a:pPr algn="ctr"/>
                      <a:r>
                        <a:rPr lang="en-US" b="0" cap="none" spc="0" dirty="0" smtClean="0">
                          <a:ln w="0"/>
                          <a:solidFill>
                            <a:schemeClr val="bg1"/>
                          </a:solidFill>
                          <a:effectLst>
                            <a:outerShdw blurRad="38100" dist="19050" dir="2700000" algn="tl" rotWithShape="0">
                              <a:schemeClr val="dk1">
                                <a:alpha val="40000"/>
                              </a:schemeClr>
                            </a:outerShdw>
                          </a:effectLst>
                        </a:rPr>
                        <a:t>3. Super Productive</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75000"/>
                      </a:schemeClr>
                    </a:solidFill>
                  </a:tcPr>
                </a:tc>
                <a:extLst>
                  <a:ext uri="{0D108BD9-81ED-4DB2-BD59-A6C34878D82A}">
                    <a16:rowId xmlns:a16="http://schemas.microsoft.com/office/drawing/2014/main" val="195026634"/>
                  </a:ext>
                </a:extLst>
              </a:tr>
            </a:tbl>
          </a:graphicData>
        </a:graphic>
      </p:graphicFrame>
      <p:sp>
        <p:nvSpPr>
          <p:cNvPr id="9" name="TextBox 8"/>
          <p:cNvSpPr txBox="1"/>
          <p:nvPr/>
        </p:nvSpPr>
        <p:spPr>
          <a:xfrm>
            <a:off x="342900" y="1955800"/>
            <a:ext cx="3594100" cy="923330"/>
          </a:xfrm>
          <a:prstGeom prst="rect">
            <a:avLst/>
          </a:prstGeom>
          <a:noFill/>
        </p:spPr>
        <p:txBody>
          <a:bodyPr wrap="square" rtlCol="0">
            <a:spAutoFit/>
          </a:bodyPr>
          <a:lstStyle/>
          <a:p>
            <a:r>
              <a:rPr lang="en-US" dirty="0" smtClean="0"/>
              <a:t>Flutter is Open-Source framework</a:t>
            </a:r>
          </a:p>
          <a:p>
            <a:r>
              <a:rPr lang="en-US" dirty="0" smtClean="0"/>
              <a:t>Therefore, anyone can use it for any given purpose.</a:t>
            </a:r>
            <a:endParaRPr lang="en-US" dirty="0"/>
          </a:p>
        </p:txBody>
      </p:sp>
      <p:sp>
        <p:nvSpPr>
          <p:cNvPr id="10" name="TextBox 9"/>
          <p:cNvSpPr txBox="1"/>
          <p:nvPr/>
        </p:nvSpPr>
        <p:spPr>
          <a:xfrm>
            <a:off x="4356100" y="1943100"/>
            <a:ext cx="3594100" cy="1754326"/>
          </a:xfrm>
          <a:prstGeom prst="rect">
            <a:avLst/>
          </a:prstGeom>
          <a:noFill/>
        </p:spPr>
        <p:txBody>
          <a:bodyPr wrap="square" rtlCol="0">
            <a:spAutoFit/>
          </a:bodyPr>
          <a:lstStyle/>
          <a:p>
            <a:r>
              <a:rPr lang="en-US" dirty="0" smtClean="0"/>
              <a:t>Flutter is so fast that it takes less then 30 sec for first full compilation.</a:t>
            </a:r>
          </a:p>
          <a:p>
            <a:endParaRPr lang="en-US" dirty="0" smtClean="0"/>
          </a:p>
          <a:p>
            <a:r>
              <a:rPr lang="en-US" dirty="0" smtClean="0"/>
              <a:t>Comes with Hot-Reload &amp; Hot-Restart.</a:t>
            </a:r>
            <a:endParaRPr lang="en-US" dirty="0"/>
          </a:p>
        </p:txBody>
      </p:sp>
      <p:sp>
        <p:nvSpPr>
          <p:cNvPr id="11" name="TextBox 10"/>
          <p:cNvSpPr txBox="1"/>
          <p:nvPr/>
        </p:nvSpPr>
        <p:spPr>
          <a:xfrm>
            <a:off x="8324849" y="1955800"/>
            <a:ext cx="3594100" cy="1754326"/>
          </a:xfrm>
          <a:prstGeom prst="rect">
            <a:avLst/>
          </a:prstGeom>
          <a:noFill/>
        </p:spPr>
        <p:txBody>
          <a:bodyPr wrap="square" rtlCol="0">
            <a:spAutoFit/>
          </a:bodyPr>
          <a:lstStyle/>
          <a:p>
            <a:r>
              <a:rPr lang="en-US" dirty="0"/>
              <a:t>Comes with Hot-Reload &amp; Hot-Restart</a:t>
            </a:r>
            <a:r>
              <a:rPr lang="en-US" dirty="0" smtClean="0"/>
              <a:t>.</a:t>
            </a:r>
          </a:p>
          <a:p>
            <a:endParaRPr lang="en-US" dirty="0"/>
          </a:p>
          <a:p>
            <a:r>
              <a:rPr lang="en-US" dirty="0" smtClean="0"/>
              <a:t>Due to Stateful widget hot-reload feature Flutter is very fast iterative coding style.</a:t>
            </a:r>
            <a:endParaRPr lang="en-US" dirty="0"/>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900" y="3710126"/>
            <a:ext cx="3628965" cy="2419310"/>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693" y="4180722"/>
            <a:ext cx="3097212" cy="1478118"/>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2949" y="3799026"/>
            <a:ext cx="3556000" cy="2419310"/>
          </a:xfrm>
          <a:prstGeom prst="rect">
            <a:avLst/>
          </a:prstGeom>
        </p:spPr>
      </p:pic>
    </p:spTree>
    <p:extLst>
      <p:ext uri="{BB962C8B-B14F-4D97-AF65-F5344CB8AC3E}">
        <p14:creationId xmlns:p14="http://schemas.microsoft.com/office/powerpoint/2010/main" val="182804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900" y="0"/>
            <a:ext cx="10972800" cy="1143000"/>
          </a:xfrm>
        </p:spPr>
        <p:txBody>
          <a:bodyPr/>
          <a:lstStyle/>
          <a:p>
            <a:r>
              <a:rPr lang="en-US" dirty="0" smtClean="0"/>
              <a:t>Why Flutter for App Development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069542745"/>
              </p:ext>
            </p:extLst>
          </p:nvPr>
        </p:nvGraphicFramePr>
        <p:xfrm>
          <a:off x="247650" y="1282700"/>
          <a:ext cx="11671299" cy="673100"/>
        </p:xfrm>
        <a:graphic>
          <a:graphicData uri="http://schemas.openxmlformats.org/drawingml/2006/table">
            <a:tbl>
              <a:tblPr firstRow="1" bandRow="1">
                <a:effectLst/>
                <a:tableStyleId>{5C22544A-7EE6-4342-B048-85BDC9FD1C3A}</a:tableStyleId>
              </a:tblPr>
              <a:tblGrid>
                <a:gridCol w="3890433">
                  <a:extLst>
                    <a:ext uri="{9D8B030D-6E8A-4147-A177-3AD203B41FA5}">
                      <a16:colId xmlns:a16="http://schemas.microsoft.com/office/drawing/2014/main" val="2572758151"/>
                    </a:ext>
                  </a:extLst>
                </a:gridCol>
                <a:gridCol w="3890433">
                  <a:extLst>
                    <a:ext uri="{9D8B030D-6E8A-4147-A177-3AD203B41FA5}">
                      <a16:colId xmlns:a16="http://schemas.microsoft.com/office/drawing/2014/main" val="3018465879"/>
                    </a:ext>
                  </a:extLst>
                </a:gridCol>
                <a:gridCol w="3890433">
                  <a:extLst>
                    <a:ext uri="{9D8B030D-6E8A-4147-A177-3AD203B41FA5}">
                      <a16:colId xmlns:a16="http://schemas.microsoft.com/office/drawing/2014/main" val="126330928"/>
                    </a:ext>
                  </a:extLst>
                </a:gridCol>
              </a:tblGrid>
              <a:tr h="673100">
                <a:tc>
                  <a:txBody>
                    <a:bodyPr/>
                    <a:lstStyle/>
                    <a:p>
                      <a:pPr algn="ctr"/>
                      <a:r>
                        <a:rPr lang="en-US" b="0" cap="none" spc="0" dirty="0" smtClean="0">
                          <a:ln w="0"/>
                          <a:solidFill>
                            <a:schemeClr val="bg1"/>
                          </a:solidFill>
                          <a:effectLst>
                            <a:outerShdw blurRad="38100" dist="19050" dir="2700000" algn="tl" rotWithShape="0">
                              <a:schemeClr val="dk1">
                                <a:alpha val="40000"/>
                              </a:schemeClr>
                            </a:outerShdw>
                          </a:effectLst>
                        </a:rPr>
                        <a:t>4. Ease to learn &amp; code sharing</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75000"/>
                      </a:schemeClr>
                    </a:solidFill>
                  </a:tcPr>
                </a:tc>
                <a:tc>
                  <a:txBody>
                    <a:bodyPr/>
                    <a:lstStyle/>
                    <a:p>
                      <a:pPr algn="ctr"/>
                      <a:r>
                        <a:rPr lang="en-US" b="0" cap="none" spc="0" dirty="0" smtClean="0">
                          <a:ln w="0"/>
                          <a:solidFill>
                            <a:schemeClr val="bg1"/>
                          </a:solidFill>
                          <a:effectLst>
                            <a:outerShdw blurRad="38100" dist="19050" dir="2700000" algn="tl" rotWithShape="0">
                              <a:schemeClr val="dk1">
                                <a:alpha val="40000"/>
                              </a:schemeClr>
                            </a:outerShdw>
                          </a:effectLst>
                        </a:rPr>
                        <a:t>5.</a:t>
                      </a:r>
                      <a:r>
                        <a:rPr lang="en-US" b="0" cap="none" spc="0" baseline="0" dirty="0" smtClean="0">
                          <a:ln w="0"/>
                          <a:solidFill>
                            <a:schemeClr val="bg1"/>
                          </a:solidFill>
                          <a:effectLst>
                            <a:outerShdw blurRad="38100" dist="19050" dir="2700000" algn="tl" rotWithShape="0">
                              <a:schemeClr val="dk1">
                                <a:alpha val="40000"/>
                              </a:schemeClr>
                            </a:outerShdw>
                          </a:effectLst>
                        </a:rPr>
                        <a:t> Widget Libraries</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8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0" cap="none" spc="0" dirty="0" smtClean="0">
                          <a:ln w="0"/>
                          <a:solidFill>
                            <a:schemeClr val="bg1"/>
                          </a:solidFill>
                          <a:effectLst>
                            <a:outerShdw blurRad="38100" dist="19050" dir="2700000" algn="tl" rotWithShape="0">
                              <a:schemeClr val="dk1">
                                <a:alpha val="40000"/>
                              </a:schemeClr>
                            </a:outerShdw>
                          </a:effectLst>
                        </a:rPr>
                        <a:t>6. </a:t>
                      </a:r>
                      <a:r>
                        <a:rPr lang="en-US" sz="1800" b="0" i="0" kern="1200" dirty="0" smtClean="0">
                          <a:solidFill>
                            <a:schemeClr val="bg1"/>
                          </a:solidFill>
                          <a:effectLst/>
                          <a:latin typeface="+mn-lt"/>
                          <a:ea typeface="+mn-ea"/>
                          <a:cs typeface="+mn-cs"/>
                        </a:rPr>
                        <a:t>Community Support</a:t>
                      </a:r>
                      <a:endParaRPr lang="en-US" b="0" cap="none" spc="0" dirty="0">
                        <a:ln w="0"/>
                        <a:solidFill>
                          <a:schemeClr val="bg1"/>
                        </a:solidFill>
                        <a:effectLst>
                          <a:outerShdw blurRad="38100" dist="19050" dir="2700000" algn="tl" rotWithShape="0">
                            <a:schemeClr val="dk1">
                              <a:alpha val="40000"/>
                            </a:schemeClr>
                          </a:outerShdw>
                        </a:effectLst>
                      </a:endParaRPr>
                    </a:p>
                  </a:txBody>
                  <a:tcPr>
                    <a:solidFill>
                      <a:schemeClr val="tx1">
                        <a:lumMod val="75000"/>
                      </a:schemeClr>
                    </a:solidFill>
                  </a:tcPr>
                </a:tc>
                <a:extLst>
                  <a:ext uri="{0D108BD9-81ED-4DB2-BD59-A6C34878D82A}">
                    <a16:rowId xmlns:a16="http://schemas.microsoft.com/office/drawing/2014/main" val="195026634"/>
                  </a:ext>
                </a:extLst>
              </a:tr>
            </a:tbl>
          </a:graphicData>
        </a:graphic>
      </p:graphicFrame>
      <p:sp>
        <p:nvSpPr>
          <p:cNvPr id="9" name="TextBox 8"/>
          <p:cNvSpPr txBox="1"/>
          <p:nvPr/>
        </p:nvSpPr>
        <p:spPr>
          <a:xfrm>
            <a:off x="355600" y="2095500"/>
            <a:ext cx="3594100" cy="1477328"/>
          </a:xfrm>
          <a:prstGeom prst="rect">
            <a:avLst/>
          </a:prstGeom>
          <a:noFill/>
        </p:spPr>
        <p:txBody>
          <a:bodyPr wrap="square" rtlCol="0">
            <a:spAutoFit/>
          </a:bodyPr>
          <a:lstStyle/>
          <a:p>
            <a:r>
              <a:rPr lang="en-US" dirty="0" smtClean="0"/>
              <a:t>Any one who have basic knowledge of OOPS &amp; UI Designing can easily learn Flutter.</a:t>
            </a:r>
          </a:p>
          <a:p>
            <a:endParaRPr lang="en-US" dirty="0"/>
          </a:p>
          <a:p>
            <a:endParaRPr lang="en-US" dirty="0"/>
          </a:p>
        </p:txBody>
      </p:sp>
      <p:sp>
        <p:nvSpPr>
          <p:cNvPr id="10" name="TextBox 9"/>
          <p:cNvSpPr txBox="1"/>
          <p:nvPr/>
        </p:nvSpPr>
        <p:spPr>
          <a:xfrm>
            <a:off x="4333874" y="2120900"/>
            <a:ext cx="3594100" cy="1754326"/>
          </a:xfrm>
          <a:prstGeom prst="rect">
            <a:avLst/>
          </a:prstGeom>
          <a:noFill/>
        </p:spPr>
        <p:txBody>
          <a:bodyPr wrap="square" rtlCol="0">
            <a:spAutoFit/>
          </a:bodyPr>
          <a:lstStyle/>
          <a:p>
            <a:r>
              <a:rPr lang="en-US" dirty="0" smtClean="0"/>
              <a:t>Ready to use widget, Flutter have many widget that you can use to build flutter application.</a:t>
            </a:r>
          </a:p>
          <a:p>
            <a:endParaRPr lang="en-US" dirty="0"/>
          </a:p>
          <a:p>
            <a:r>
              <a:rPr lang="en-US" dirty="0" smtClean="0"/>
              <a:t>Such as : http, get, share plus, toggle switch etc.</a:t>
            </a:r>
            <a:endParaRPr lang="en-US" dirty="0"/>
          </a:p>
        </p:txBody>
      </p:sp>
      <p:sp>
        <p:nvSpPr>
          <p:cNvPr id="11" name="TextBox 10"/>
          <p:cNvSpPr txBox="1"/>
          <p:nvPr/>
        </p:nvSpPr>
        <p:spPr>
          <a:xfrm>
            <a:off x="8137524" y="2120900"/>
            <a:ext cx="3594100" cy="1754326"/>
          </a:xfrm>
          <a:prstGeom prst="rect">
            <a:avLst/>
          </a:prstGeom>
          <a:noFill/>
        </p:spPr>
        <p:txBody>
          <a:bodyPr wrap="square" rtlCol="0">
            <a:spAutoFit/>
          </a:bodyPr>
          <a:lstStyle/>
          <a:p>
            <a:r>
              <a:rPr lang="en-US" dirty="0" smtClean="0"/>
              <a:t>Flutter Community is bit small if we compare with other framework like React.</a:t>
            </a:r>
          </a:p>
          <a:p>
            <a:endParaRPr lang="en-US" dirty="0"/>
          </a:p>
          <a:p>
            <a:r>
              <a:rPr lang="en-US" dirty="0" smtClean="0"/>
              <a:t>But Flutter is grow very fast then other framework.</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5600" y="4139783"/>
            <a:ext cx="3627684" cy="204057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8222" y="4139783"/>
            <a:ext cx="2900864" cy="217564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5000" y="4019489"/>
            <a:ext cx="3225800" cy="2416236"/>
          </a:xfrm>
          <a:prstGeom prst="rect">
            <a:avLst/>
          </a:prstGeom>
        </p:spPr>
      </p:pic>
    </p:spTree>
    <p:extLst>
      <p:ext uri="{BB962C8B-B14F-4D97-AF65-F5344CB8AC3E}">
        <p14:creationId xmlns:p14="http://schemas.microsoft.com/office/powerpoint/2010/main" val="1765309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52400"/>
            <a:ext cx="10353762" cy="970450"/>
          </a:xfrm>
        </p:spPr>
        <p:txBody>
          <a:bodyPr/>
          <a:lstStyle/>
          <a:p>
            <a:r>
              <a:rPr lang="en-IN" altLang="en-US" dirty="0" smtClean="0"/>
              <a:t>Apps that are build using Flutter</a:t>
            </a:r>
            <a:endParaRPr lang="en-IN" altLang="en-US" dirty="0"/>
          </a:p>
        </p:txBody>
      </p:sp>
      <p:sp>
        <p:nvSpPr>
          <p:cNvPr id="4" name="Content Placeholder 3"/>
          <p:cNvSpPr>
            <a:spLocks noGrp="1"/>
          </p:cNvSpPr>
          <p:nvPr>
            <p:ph idx="1"/>
          </p:nvPr>
        </p:nvSpPr>
        <p:spPr>
          <a:xfrm>
            <a:off x="15151" y="1435100"/>
            <a:ext cx="3937605" cy="5499649"/>
          </a:xfrm>
        </p:spPr>
        <p:txBody>
          <a:bodyPr>
            <a:normAutofit/>
          </a:bodyPr>
          <a:lstStyle/>
          <a:p>
            <a:pPr marL="36900" indent="0" algn="ctr">
              <a:buNone/>
            </a:pPr>
            <a:r>
              <a:rPr lang="en-US" sz="2500" dirty="0" smtClean="0"/>
              <a:t>Dream 11</a:t>
            </a:r>
          </a:p>
        </p:txBody>
      </p:sp>
      <p:sp>
        <p:nvSpPr>
          <p:cNvPr id="5" name="Content Placeholder 3"/>
          <p:cNvSpPr txBox="1">
            <a:spLocks/>
          </p:cNvSpPr>
          <p:nvPr/>
        </p:nvSpPr>
        <p:spPr>
          <a:xfrm>
            <a:off x="5966173" y="1272671"/>
            <a:ext cx="341895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ctr">
              <a:buNone/>
            </a:pPr>
            <a:r>
              <a:rPr lang="en-US" sz="2500" dirty="0" smtClean="0"/>
              <a:t>Stadia  </a:t>
            </a:r>
            <a:br>
              <a:rPr lang="en-US" sz="2500" dirty="0" smtClean="0"/>
            </a:br>
            <a:r>
              <a:rPr lang="en-US" sz="2500" dirty="0" smtClean="0"/>
              <a:t>gaming platform.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508" y="2267025"/>
            <a:ext cx="3194892" cy="3727374"/>
          </a:xfrm>
          <a:prstGeom prst="rect">
            <a:avLst/>
          </a:prstGeom>
        </p:spPr>
      </p:pic>
      <p:sp>
        <p:nvSpPr>
          <p:cNvPr id="6" name="Content Placeholder 3"/>
          <p:cNvSpPr txBox="1">
            <a:spLocks/>
          </p:cNvSpPr>
          <p:nvPr/>
        </p:nvSpPr>
        <p:spPr>
          <a:xfrm>
            <a:off x="3449686" y="1435100"/>
            <a:ext cx="3033248" cy="44016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ctr">
              <a:buNone/>
            </a:pPr>
            <a:r>
              <a:rPr lang="en-US" sz="2500" dirty="0" smtClean="0"/>
              <a:t>eBay</a:t>
            </a:r>
            <a:endParaRPr lang="en-US" sz="25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7286" y="1978555"/>
            <a:ext cx="3433164" cy="4268258"/>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0449" y="2294520"/>
            <a:ext cx="1890404" cy="3780808"/>
          </a:xfrm>
          <a:prstGeom prst="rect">
            <a:avLst/>
          </a:prstGeom>
        </p:spPr>
      </p:pic>
      <p:sp>
        <p:nvSpPr>
          <p:cNvPr id="9" name="Content Placeholder 3"/>
          <p:cNvSpPr txBox="1">
            <a:spLocks/>
          </p:cNvSpPr>
          <p:nvPr/>
        </p:nvSpPr>
        <p:spPr>
          <a:xfrm>
            <a:off x="8999421" y="1435100"/>
            <a:ext cx="341895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ctr">
              <a:buNone/>
            </a:pPr>
            <a:r>
              <a:rPr lang="en-US" sz="2500" dirty="0" smtClean="0"/>
              <a:t>Google Pay</a:t>
            </a:r>
          </a:p>
        </p:txBody>
      </p:sp>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42375" y="2267025"/>
            <a:ext cx="1911726" cy="37273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12420"/>
            <a:ext cx="10353762" cy="970450"/>
          </a:xfrm>
        </p:spPr>
        <p:txBody>
          <a:bodyPr/>
          <a:lstStyle/>
          <a:p>
            <a:r>
              <a:rPr lang="en-US" dirty="0" smtClean="0"/>
              <a:t>Feature of Flutter</a:t>
            </a:r>
            <a:endParaRPr lang="en-US" dirty="0"/>
          </a:p>
        </p:txBody>
      </p:sp>
      <p:sp>
        <p:nvSpPr>
          <p:cNvPr id="3" name="Content Placeholder 2"/>
          <p:cNvSpPr>
            <a:spLocks noGrp="1"/>
          </p:cNvSpPr>
          <p:nvPr>
            <p:ph idx="1"/>
          </p:nvPr>
        </p:nvSpPr>
        <p:spPr/>
        <p:txBody>
          <a:bodyPr/>
          <a:lstStyle/>
          <a:p>
            <a:r>
              <a:rPr lang="en-US" dirty="0" smtClean="0"/>
              <a:t>Cross Platform App Development.</a:t>
            </a:r>
          </a:p>
          <a:p>
            <a:r>
              <a:rPr lang="en-US" dirty="0" smtClean="0"/>
              <a:t>Easy access to Native Features.</a:t>
            </a:r>
          </a:p>
          <a:p>
            <a:r>
              <a:rPr lang="en-US" dirty="0" smtClean="0"/>
              <a:t>Minimal Coding.</a:t>
            </a:r>
          </a:p>
          <a:p>
            <a:r>
              <a:rPr lang="en-US" dirty="0" smtClean="0"/>
              <a:t>Fast Development</a:t>
            </a:r>
          </a:p>
          <a:p>
            <a:r>
              <a:rPr lang="en-US" dirty="0" smtClean="0"/>
              <a:t>Hot Reload &amp; Hot Restart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606540" y="1583064"/>
            <a:ext cx="4366260" cy="4208136"/>
          </a:xfrm>
          <a:prstGeom prst="rect">
            <a:avLst/>
          </a:prstGeom>
        </p:spPr>
      </p:pic>
    </p:spTree>
    <p:extLst>
      <p:ext uri="{BB962C8B-B14F-4D97-AF65-F5344CB8AC3E}">
        <p14:creationId xmlns:p14="http://schemas.microsoft.com/office/powerpoint/2010/main" val="1441999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89916" y="8632"/>
            <a:ext cx="8612293" cy="5208693"/>
            <a:chOff x="1342437" y="6474"/>
            <a:chExt cx="6459220" cy="3906520"/>
          </a:xfrm>
        </p:grpSpPr>
        <p:pic>
          <p:nvPicPr>
            <p:cNvPr id="3" name="object 3"/>
            <p:cNvPicPr/>
            <p:nvPr/>
          </p:nvPicPr>
          <p:blipFill>
            <a:blip r:embed="rId2" cstate="print"/>
            <a:stretch>
              <a:fillRect/>
            </a:stretch>
          </p:blipFill>
          <p:spPr>
            <a:xfrm>
              <a:off x="1342437" y="177924"/>
              <a:ext cx="6459126" cy="3383056"/>
            </a:xfrm>
            <a:prstGeom prst="rect">
              <a:avLst/>
            </a:prstGeom>
          </p:spPr>
        </p:pic>
        <p:sp>
          <p:nvSpPr>
            <p:cNvPr id="4" name="object 4"/>
            <p:cNvSpPr/>
            <p:nvPr/>
          </p:nvSpPr>
          <p:spPr>
            <a:xfrm>
              <a:off x="4772684" y="384924"/>
              <a:ext cx="1293495" cy="841375"/>
            </a:xfrm>
            <a:custGeom>
              <a:avLst/>
              <a:gdLst/>
              <a:ahLst/>
              <a:cxnLst/>
              <a:rect l="l" t="t" r="r" b="b"/>
              <a:pathLst>
                <a:path w="1293495" h="841375">
                  <a:moveTo>
                    <a:pt x="0" y="420450"/>
                  </a:moveTo>
                  <a:lnTo>
                    <a:pt x="2642" y="382180"/>
                  </a:lnTo>
                  <a:lnTo>
                    <a:pt x="10418" y="344873"/>
                  </a:lnTo>
                  <a:lnTo>
                    <a:pt x="23098" y="308677"/>
                  </a:lnTo>
                  <a:lnTo>
                    <a:pt x="40456" y="273741"/>
                  </a:lnTo>
                  <a:lnTo>
                    <a:pt x="62261" y="240212"/>
                  </a:lnTo>
                  <a:lnTo>
                    <a:pt x="88286" y="208240"/>
                  </a:lnTo>
                  <a:lnTo>
                    <a:pt x="118303" y="177973"/>
                  </a:lnTo>
                  <a:lnTo>
                    <a:pt x="152083" y="149559"/>
                  </a:lnTo>
                  <a:lnTo>
                    <a:pt x="189399" y="123146"/>
                  </a:lnTo>
                  <a:lnTo>
                    <a:pt x="230021" y="98884"/>
                  </a:lnTo>
                  <a:lnTo>
                    <a:pt x="273722" y="76920"/>
                  </a:lnTo>
                  <a:lnTo>
                    <a:pt x="320273" y="57403"/>
                  </a:lnTo>
                  <a:lnTo>
                    <a:pt x="369446" y="40482"/>
                  </a:lnTo>
                  <a:lnTo>
                    <a:pt x="421012" y="26304"/>
                  </a:lnTo>
                  <a:lnTo>
                    <a:pt x="474744" y="15018"/>
                  </a:lnTo>
                  <a:lnTo>
                    <a:pt x="530413" y="6774"/>
                  </a:lnTo>
                  <a:lnTo>
                    <a:pt x="587791" y="1718"/>
                  </a:lnTo>
                  <a:lnTo>
                    <a:pt x="646649" y="0"/>
                  </a:lnTo>
                  <a:lnTo>
                    <a:pt x="705508" y="1718"/>
                  </a:lnTo>
                  <a:lnTo>
                    <a:pt x="762886" y="6774"/>
                  </a:lnTo>
                  <a:lnTo>
                    <a:pt x="818555" y="15018"/>
                  </a:lnTo>
                  <a:lnTo>
                    <a:pt x="872287" y="26304"/>
                  </a:lnTo>
                  <a:lnTo>
                    <a:pt x="923853" y="40482"/>
                  </a:lnTo>
                  <a:lnTo>
                    <a:pt x="973026" y="57403"/>
                  </a:lnTo>
                  <a:lnTo>
                    <a:pt x="1019577" y="76920"/>
                  </a:lnTo>
                  <a:lnTo>
                    <a:pt x="1063278" y="98884"/>
                  </a:lnTo>
                  <a:lnTo>
                    <a:pt x="1103900" y="123146"/>
                  </a:lnTo>
                  <a:lnTo>
                    <a:pt x="1141216" y="149559"/>
                  </a:lnTo>
                  <a:lnTo>
                    <a:pt x="1174996" y="177973"/>
                  </a:lnTo>
                  <a:lnTo>
                    <a:pt x="1205013" y="208240"/>
                  </a:lnTo>
                  <a:lnTo>
                    <a:pt x="1231038" y="240212"/>
                  </a:lnTo>
                  <a:lnTo>
                    <a:pt x="1252843" y="273741"/>
                  </a:lnTo>
                  <a:lnTo>
                    <a:pt x="1270201" y="308677"/>
                  </a:lnTo>
                  <a:lnTo>
                    <a:pt x="1282881" y="344873"/>
                  </a:lnTo>
                  <a:lnTo>
                    <a:pt x="1290657" y="382180"/>
                  </a:lnTo>
                  <a:lnTo>
                    <a:pt x="1293299" y="420450"/>
                  </a:lnTo>
                  <a:lnTo>
                    <a:pt x="1290657" y="458719"/>
                  </a:lnTo>
                  <a:lnTo>
                    <a:pt x="1282881" y="496026"/>
                  </a:lnTo>
                  <a:lnTo>
                    <a:pt x="1270201" y="532222"/>
                  </a:lnTo>
                  <a:lnTo>
                    <a:pt x="1252843" y="567158"/>
                  </a:lnTo>
                  <a:lnTo>
                    <a:pt x="1231038" y="600687"/>
                  </a:lnTo>
                  <a:lnTo>
                    <a:pt x="1205013" y="632659"/>
                  </a:lnTo>
                  <a:lnTo>
                    <a:pt x="1174996" y="662926"/>
                  </a:lnTo>
                  <a:lnTo>
                    <a:pt x="1141216" y="691340"/>
                  </a:lnTo>
                  <a:lnTo>
                    <a:pt x="1103900" y="717753"/>
                  </a:lnTo>
                  <a:lnTo>
                    <a:pt x="1063278" y="742015"/>
                  </a:lnTo>
                  <a:lnTo>
                    <a:pt x="1019577" y="763979"/>
                  </a:lnTo>
                  <a:lnTo>
                    <a:pt x="973026" y="783496"/>
                  </a:lnTo>
                  <a:lnTo>
                    <a:pt x="923853" y="800417"/>
                  </a:lnTo>
                  <a:lnTo>
                    <a:pt x="872287" y="814595"/>
                  </a:lnTo>
                  <a:lnTo>
                    <a:pt x="818555" y="825881"/>
                  </a:lnTo>
                  <a:lnTo>
                    <a:pt x="762886" y="834126"/>
                  </a:lnTo>
                  <a:lnTo>
                    <a:pt x="705508" y="839181"/>
                  </a:lnTo>
                  <a:lnTo>
                    <a:pt x="646649" y="840900"/>
                  </a:lnTo>
                  <a:lnTo>
                    <a:pt x="587791" y="839181"/>
                  </a:lnTo>
                  <a:lnTo>
                    <a:pt x="530413" y="834126"/>
                  </a:lnTo>
                  <a:lnTo>
                    <a:pt x="474744" y="825881"/>
                  </a:lnTo>
                  <a:lnTo>
                    <a:pt x="421012" y="814595"/>
                  </a:lnTo>
                  <a:lnTo>
                    <a:pt x="369446" y="800417"/>
                  </a:lnTo>
                  <a:lnTo>
                    <a:pt x="320273" y="783496"/>
                  </a:lnTo>
                  <a:lnTo>
                    <a:pt x="273722" y="763979"/>
                  </a:lnTo>
                  <a:lnTo>
                    <a:pt x="230021" y="742015"/>
                  </a:lnTo>
                  <a:lnTo>
                    <a:pt x="189399" y="717753"/>
                  </a:lnTo>
                  <a:lnTo>
                    <a:pt x="152083" y="691340"/>
                  </a:lnTo>
                  <a:lnTo>
                    <a:pt x="118303" y="662926"/>
                  </a:lnTo>
                  <a:lnTo>
                    <a:pt x="88286" y="632659"/>
                  </a:lnTo>
                  <a:lnTo>
                    <a:pt x="62261" y="600687"/>
                  </a:lnTo>
                  <a:lnTo>
                    <a:pt x="40456" y="567158"/>
                  </a:lnTo>
                  <a:lnTo>
                    <a:pt x="23098" y="532222"/>
                  </a:lnTo>
                  <a:lnTo>
                    <a:pt x="10418" y="496026"/>
                  </a:lnTo>
                  <a:lnTo>
                    <a:pt x="2642" y="458719"/>
                  </a:lnTo>
                  <a:lnTo>
                    <a:pt x="0" y="420450"/>
                  </a:lnTo>
                  <a:close/>
                </a:path>
              </a:pathLst>
            </a:custGeom>
            <a:ln w="19049">
              <a:solidFill>
                <a:srgbClr val="FF0000"/>
              </a:solidFill>
            </a:ln>
          </p:spPr>
          <p:txBody>
            <a:bodyPr wrap="square" lIns="0" tIns="0" rIns="0" bIns="0" rtlCol="0"/>
            <a:lstStyle/>
            <a:p>
              <a:endParaRPr sz="2400"/>
            </a:p>
          </p:txBody>
        </p:sp>
        <p:sp>
          <p:nvSpPr>
            <p:cNvPr id="5" name="object 5"/>
            <p:cNvSpPr/>
            <p:nvPr/>
          </p:nvSpPr>
          <p:spPr>
            <a:xfrm>
              <a:off x="4487804" y="25524"/>
              <a:ext cx="27305" cy="3868420"/>
            </a:xfrm>
            <a:custGeom>
              <a:avLst/>
              <a:gdLst/>
              <a:ahLst/>
              <a:cxnLst/>
              <a:rect l="l" t="t" r="r" b="b"/>
              <a:pathLst>
                <a:path w="27304" h="3868420">
                  <a:moveTo>
                    <a:pt x="0" y="0"/>
                  </a:moveTo>
                  <a:lnTo>
                    <a:pt x="26699" y="3868199"/>
                  </a:lnTo>
                </a:path>
              </a:pathLst>
            </a:custGeom>
            <a:ln w="38099">
              <a:solidFill>
                <a:srgbClr val="FF0000"/>
              </a:solidFill>
            </a:ln>
          </p:spPr>
          <p:txBody>
            <a:bodyPr wrap="square" lIns="0" tIns="0" rIns="0" bIns="0" rtlCol="0"/>
            <a:lstStyle/>
            <a:p>
              <a:endParaRPr sz="2400"/>
            </a:p>
          </p:txBody>
        </p:sp>
        <p:sp>
          <p:nvSpPr>
            <p:cNvPr id="6" name="object 6"/>
            <p:cNvSpPr/>
            <p:nvPr/>
          </p:nvSpPr>
          <p:spPr>
            <a:xfrm>
              <a:off x="3417674" y="2144124"/>
              <a:ext cx="1024255" cy="669925"/>
            </a:xfrm>
            <a:custGeom>
              <a:avLst/>
              <a:gdLst/>
              <a:ahLst/>
              <a:cxnLst/>
              <a:rect l="l" t="t" r="r" b="b"/>
              <a:pathLst>
                <a:path w="1024254" h="669925">
                  <a:moveTo>
                    <a:pt x="0" y="334949"/>
                  </a:moveTo>
                  <a:lnTo>
                    <a:pt x="3004" y="298453"/>
                  </a:lnTo>
                  <a:lnTo>
                    <a:pt x="11808" y="263095"/>
                  </a:lnTo>
                  <a:lnTo>
                    <a:pt x="45566" y="196611"/>
                  </a:lnTo>
                  <a:lnTo>
                    <a:pt x="69896" y="165894"/>
                  </a:lnTo>
                  <a:lnTo>
                    <a:pt x="98776" y="137132"/>
                  </a:lnTo>
                  <a:lnTo>
                    <a:pt x="131895" y="110531"/>
                  </a:lnTo>
                  <a:lnTo>
                    <a:pt x="168940" y="86294"/>
                  </a:lnTo>
                  <a:lnTo>
                    <a:pt x="209598" y="64625"/>
                  </a:lnTo>
                  <a:lnTo>
                    <a:pt x="253558" y="45730"/>
                  </a:lnTo>
                  <a:lnTo>
                    <a:pt x="300508" y="29812"/>
                  </a:lnTo>
                  <a:lnTo>
                    <a:pt x="350134" y="17075"/>
                  </a:lnTo>
                  <a:lnTo>
                    <a:pt x="402124" y="7725"/>
                  </a:lnTo>
                  <a:lnTo>
                    <a:pt x="456167" y="1965"/>
                  </a:lnTo>
                  <a:lnTo>
                    <a:pt x="511949" y="0"/>
                  </a:lnTo>
                  <a:lnTo>
                    <a:pt x="567732" y="1965"/>
                  </a:lnTo>
                  <a:lnTo>
                    <a:pt x="621775" y="7725"/>
                  </a:lnTo>
                  <a:lnTo>
                    <a:pt x="673765" y="17075"/>
                  </a:lnTo>
                  <a:lnTo>
                    <a:pt x="723391" y="29812"/>
                  </a:lnTo>
                  <a:lnTo>
                    <a:pt x="770340" y="45730"/>
                  </a:lnTo>
                  <a:lnTo>
                    <a:pt x="814301" y="64625"/>
                  </a:lnTo>
                  <a:lnTo>
                    <a:pt x="854959" y="86294"/>
                  </a:lnTo>
                  <a:lnTo>
                    <a:pt x="892004" y="110531"/>
                  </a:lnTo>
                  <a:lnTo>
                    <a:pt x="925123" y="137132"/>
                  </a:lnTo>
                  <a:lnTo>
                    <a:pt x="954003" y="165894"/>
                  </a:lnTo>
                  <a:lnTo>
                    <a:pt x="978333" y="196611"/>
                  </a:lnTo>
                  <a:lnTo>
                    <a:pt x="1012091" y="263095"/>
                  </a:lnTo>
                  <a:lnTo>
                    <a:pt x="1023899" y="334949"/>
                  </a:lnTo>
                  <a:lnTo>
                    <a:pt x="1012091" y="406804"/>
                  </a:lnTo>
                  <a:lnTo>
                    <a:pt x="978333" y="473288"/>
                  </a:lnTo>
                  <a:lnTo>
                    <a:pt x="954003" y="504005"/>
                  </a:lnTo>
                  <a:lnTo>
                    <a:pt x="925123" y="532767"/>
                  </a:lnTo>
                  <a:lnTo>
                    <a:pt x="892004" y="559368"/>
                  </a:lnTo>
                  <a:lnTo>
                    <a:pt x="854959" y="583605"/>
                  </a:lnTo>
                  <a:lnTo>
                    <a:pt x="814301" y="605274"/>
                  </a:lnTo>
                  <a:lnTo>
                    <a:pt x="770340" y="624169"/>
                  </a:lnTo>
                  <a:lnTo>
                    <a:pt x="723391" y="640087"/>
                  </a:lnTo>
                  <a:lnTo>
                    <a:pt x="673765" y="652824"/>
                  </a:lnTo>
                  <a:lnTo>
                    <a:pt x="621775" y="662174"/>
                  </a:lnTo>
                  <a:lnTo>
                    <a:pt x="567732" y="667934"/>
                  </a:lnTo>
                  <a:lnTo>
                    <a:pt x="511949" y="669899"/>
                  </a:lnTo>
                  <a:lnTo>
                    <a:pt x="456167" y="667934"/>
                  </a:lnTo>
                  <a:lnTo>
                    <a:pt x="402124" y="662174"/>
                  </a:lnTo>
                  <a:lnTo>
                    <a:pt x="350134" y="652824"/>
                  </a:lnTo>
                  <a:lnTo>
                    <a:pt x="300508" y="640087"/>
                  </a:lnTo>
                  <a:lnTo>
                    <a:pt x="253558" y="624169"/>
                  </a:lnTo>
                  <a:lnTo>
                    <a:pt x="209598" y="605274"/>
                  </a:lnTo>
                  <a:lnTo>
                    <a:pt x="168940" y="583605"/>
                  </a:lnTo>
                  <a:lnTo>
                    <a:pt x="131895" y="559368"/>
                  </a:lnTo>
                  <a:lnTo>
                    <a:pt x="98776" y="532767"/>
                  </a:lnTo>
                  <a:lnTo>
                    <a:pt x="69896" y="504005"/>
                  </a:lnTo>
                  <a:lnTo>
                    <a:pt x="45566" y="473288"/>
                  </a:lnTo>
                  <a:lnTo>
                    <a:pt x="11808" y="406804"/>
                  </a:lnTo>
                  <a:lnTo>
                    <a:pt x="3004" y="371446"/>
                  </a:lnTo>
                  <a:lnTo>
                    <a:pt x="0" y="334949"/>
                  </a:lnTo>
                  <a:close/>
                </a:path>
              </a:pathLst>
            </a:custGeom>
            <a:ln w="19049">
              <a:solidFill>
                <a:srgbClr val="FF0000"/>
              </a:solidFill>
            </a:ln>
          </p:spPr>
          <p:txBody>
            <a:bodyPr wrap="square" lIns="0" tIns="0" rIns="0" bIns="0" rtlCol="0"/>
            <a:lstStyle/>
            <a:p>
              <a:endParaRPr sz="2400"/>
            </a:p>
          </p:txBody>
        </p:sp>
        <p:sp>
          <p:nvSpPr>
            <p:cNvPr id="7" name="object 7"/>
            <p:cNvSpPr/>
            <p:nvPr/>
          </p:nvSpPr>
          <p:spPr>
            <a:xfrm>
              <a:off x="5042074" y="2058449"/>
              <a:ext cx="1024255" cy="669925"/>
            </a:xfrm>
            <a:custGeom>
              <a:avLst/>
              <a:gdLst/>
              <a:ahLst/>
              <a:cxnLst/>
              <a:rect l="l" t="t" r="r" b="b"/>
              <a:pathLst>
                <a:path w="1024254" h="669925">
                  <a:moveTo>
                    <a:pt x="0" y="334949"/>
                  </a:moveTo>
                  <a:lnTo>
                    <a:pt x="3004" y="298453"/>
                  </a:lnTo>
                  <a:lnTo>
                    <a:pt x="11808" y="263095"/>
                  </a:lnTo>
                  <a:lnTo>
                    <a:pt x="45566" y="196611"/>
                  </a:lnTo>
                  <a:lnTo>
                    <a:pt x="69896" y="165894"/>
                  </a:lnTo>
                  <a:lnTo>
                    <a:pt x="98776" y="137132"/>
                  </a:lnTo>
                  <a:lnTo>
                    <a:pt x="131895" y="110531"/>
                  </a:lnTo>
                  <a:lnTo>
                    <a:pt x="168940" y="86294"/>
                  </a:lnTo>
                  <a:lnTo>
                    <a:pt x="209598" y="64625"/>
                  </a:lnTo>
                  <a:lnTo>
                    <a:pt x="253558" y="45730"/>
                  </a:lnTo>
                  <a:lnTo>
                    <a:pt x="300508" y="29812"/>
                  </a:lnTo>
                  <a:lnTo>
                    <a:pt x="350134" y="17075"/>
                  </a:lnTo>
                  <a:lnTo>
                    <a:pt x="402124" y="7725"/>
                  </a:lnTo>
                  <a:lnTo>
                    <a:pt x="456167" y="1965"/>
                  </a:lnTo>
                  <a:lnTo>
                    <a:pt x="511949" y="0"/>
                  </a:lnTo>
                  <a:lnTo>
                    <a:pt x="567732" y="1965"/>
                  </a:lnTo>
                  <a:lnTo>
                    <a:pt x="621775" y="7725"/>
                  </a:lnTo>
                  <a:lnTo>
                    <a:pt x="673765" y="17075"/>
                  </a:lnTo>
                  <a:lnTo>
                    <a:pt x="723391" y="29812"/>
                  </a:lnTo>
                  <a:lnTo>
                    <a:pt x="770340" y="45730"/>
                  </a:lnTo>
                  <a:lnTo>
                    <a:pt x="814301" y="64625"/>
                  </a:lnTo>
                  <a:lnTo>
                    <a:pt x="854959" y="86294"/>
                  </a:lnTo>
                  <a:lnTo>
                    <a:pt x="892004" y="110531"/>
                  </a:lnTo>
                  <a:lnTo>
                    <a:pt x="925123" y="137132"/>
                  </a:lnTo>
                  <a:lnTo>
                    <a:pt x="954003" y="165894"/>
                  </a:lnTo>
                  <a:lnTo>
                    <a:pt x="978333" y="196611"/>
                  </a:lnTo>
                  <a:lnTo>
                    <a:pt x="1012091" y="263095"/>
                  </a:lnTo>
                  <a:lnTo>
                    <a:pt x="1023899" y="334949"/>
                  </a:lnTo>
                  <a:lnTo>
                    <a:pt x="1012091" y="406804"/>
                  </a:lnTo>
                  <a:lnTo>
                    <a:pt x="978333" y="473288"/>
                  </a:lnTo>
                  <a:lnTo>
                    <a:pt x="954003" y="504005"/>
                  </a:lnTo>
                  <a:lnTo>
                    <a:pt x="925123" y="532767"/>
                  </a:lnTo>
                  <a:lnTo>
                    <a:pt x="892004" y="559368"/>
                  </a:lnTo>
                  <a:lnTo>
                    <a:pt x="854959" y="583605"/>
                  </a:lnTo>
                  <a:lnTo>
                    <a:pt x="814301" y="605274"/>
                  </a:lnTo>
                  <a:lnTo>
                    <a:pt x="770340" y="624169"/>
                  </a:lnTo>
                  <a:lnTo>
                    <a:pt x="723391" y="640087"/>
                  </a:lnTo>
                  <a:lnTo>
                    <a:pt x="673765" y="652824"/>
                  </a:lnTo>
                  <a:lnTo>
                    <a:pt x="621775" y="662174"/>
                  </a:lnTo>
                  <a:lnTo>
                    <a:pt x="567732" y="667934"/>
                  </a:lnTo>
                  <a:lnTo>
                    <a:pt x="511949" y="669899"/>
                  </a:lnTo>
                  <a:lnTo>
                    <a:pt x="456167" y="667934"/>
                  </a:lnTo>
                  <a:lnTo>
                    <a:pt x="402124" y="662174"/>
                  </a:lnTo>
                  <a:lnTo>
                    <a:pt x="350134" y="652824"/>
                  </a:lnTo>
                  <a:lnTo>
                    <a:pt x="300508" y="640087"/>
                  </a:lnTo>
                  <a:lnTo>
                    <a:pt x="253558" y="624169"/>
                  </a:lnTo>
                  <a:lnTo>
                    <a:pt x="209598" y="605274"/>
                  </a:lnTo>
                  <a:lnTo>
                    <a:pt x="168940" y="583605"/>
                  </a:lnTo>
                  <a:lnTo>
                    <a:pt x="131895" y="559368"/>
                  </a:lnTo>
                  <a:lnTo>
                    <a:pt x="98776" y="532767"/>
                  </a:lnTo>
                  <a:lnTo>
                    <a:pt x="69896" y="504005"/>
                  </a:lnTo>
                  <a:lnTo>
                    <a:pt x="45566" y="473288"/>
                  </a:lnTo>
                  <a:lnTo>
                    <a:pt x="11808" y="406804"/>
                  </a:lnTo>
                  <a:lnTo>
                    <a:pt x="3004" y="371446"/>
                  </a:lnTo>
                  <a:lnTo>
                    <a:pt x="0" y="334949"/>
                  </a:lnTo>
                  <a:close/>
                </a:path>
              </a:pathLst>
            </a:custGeom>
            <a:ln w="19049">
              <a:solidFill>
                <a:srgbClr val="FF0000"/>
              </a:solidFill>
            </a:ln>
          </p:spPr>
          <p:txBody>
            <a:bodyPr wrap="square" lIns="0" tIns="0" rIns="0" bIns="0" rtlCol="0"/>
            <a:lstStyle/>
            <a:p>
              <a:endParaRPr sz="2400"/>
            </a:p>
          </p:txBody>
        </p:sp>
      </p:grpSp>
      <p:sp>
        <p:nvSpPr>
          <p:cNvPr id="8" name="object 8"/>
          <p:cNvSpPr txBox="1"/>
          <p:nvPr/>
        </p:nvSpPr>
        <p:spPr>
          <a:xfrm>
            <a:off x="3702241" y="6451182"/>
            <a:ext cx="4790439" cy="181310"/>
          </a:xfrm>
          <a:prstGeom prst="rect">
            <a:avLst/>
          </a:prstGeom>
        </p:spPr>
        <p:txBody>
          <a:bodyPr vert="horz" wrap="square" lIns="0" tIns="16933" rIns="0" bIns="0" rtlCol="0">
            <a:spAutoFit/>
          </a:bodyPr>
          <a:lstStyle/>
          <a:p>
            <a:pPr marL="16933">
              <a:spcBef>
                <a:spcPts val="133"/>
              </a:spcBef>
            </a:pPr>
            <a:r>
              <a:rPr sz="1067" spc="-7" dirty="0">
                <a:solidFill>
                  <a:srgbClr val="FFFFFF"/>
                </a:solidFill>
                <a:latin typeface="Arial MT"/>
                <a:cs typeface="Arial MT"/>
              </a:rPr>
              <a:t>Base</a:t>
            </a:r>
            <a:r>
              <a:rPr sz="1067" spc="-33" dirty="0">
                <a:solidFill>
                  <a:srgbClr val="FFFFFF"/>
                </a:solidFill>
                <a:latin typeface="Arial MT"/>
                <a:cs typeface="Arial MT"/>
              </a:rPr>
              <a:t> </a:t>
            </a:r>
            <a:r>
              <a:rPr sz="1067" spc="-7" dirty="0">
                <a:solidFill>
                  <a:srgbClr val="FFFFFF"/>
                </a:solidFill>
                <a:latin typeface="Arial MT"/>
                <a:cs typeface="Arial MT"/>
              </a:rPr>
              <a:t>image</a:t>
            </a:r>
            <a:r>
              <a:rPr sz="1067" spc="-33" dirty="0">
                <a:solidFill>
                  <a:srgbClr val="FFFFFF"/>
                </a:solidFill>
                <a:latin typeface="Arial MT"/>
                <a:cs typeface="Arial MT"/>
              </a:rPr>
              <a:t> </a:t>
            </a:r>
            <a:r>
              <a:rPr sz="1067" spc="-7" dirty="0">
                <a:solidFill>
                  <a:srgbClr val="FFFFFF"/>
                </a:solidFill>
                <a:latin typeface="Arial MT"/>
                <a:cs typeface="Arial MT"/>
              </a:rPr>
              <a:t>from:</a:t>
            </a:r>
            <a:r>
              <a:rPr sz="1067" spc="-27" dirty="0">
                <a:solidFill>
                  <a:srgbClr val="FFFFFF"/>
                </a:solidFill>
                <a:latin typeface="Arial MT"/>
                <a:cs typeface="Arial MT"/>
              </a:rPr>
              <a:t> </a:t>
            </a:r>
            <a:r>
              <a:rPr sz="1067" u="sng" spc="-7" dirty="0">
                <a:solidFill>
                  <a:srgbClr val="4DD0E1"/>
                </a:solidFill>
                <a:uFill>
                  <a:solidFill>
                    <a:srgbClr val="4DD0E1"/>
                  </a:solidFill>
                </a:uFill>
                <a:latin typeface="Arial MT"/>
                <a:cs typeface="Arial MT"/>
                <a:hlinkClick r:id="rId3"/>
              </a:rPr>
              <a:t>https://speakerdeck.com/passsy/flutter-60-fps-ui-of-the-future</a:t>
            </a:r>
            <a:endParaRPr sz="1067">
              <a:latin typeface="Arial MT"/>
              <a:cs typeface="Arial MT"/>
            </a:endParaRPr>
          </a:p>
        </p:txBody>
      </p:sp>
      <p:sp>
        <p:nvSpPr>
          <p:cNvPr id="9" name="object 9"/>
          <p:cNvSpPr txBox="1"/>
          <p:nvPr/>
        </p:nvSpPr>
        <p:spPr>
          <a:xfrm>
            <a:off x="2560969" y="4846451"/>
            <a:ext cx="2575560" cy="304421"/>
          </a:xfrm>
          <a:prstGeom prst="rect">
            <a:avLst/>
          </a:prstGeom>
        </p:spPr>
        <p:txBody>
          <a:bodyPr vert="horz" wrap="square" lIns="0" tIns="16933" rIns="0" bIns="0" rtlCol="0">
            <a:spAutoFit/>
          </a:bodyPr>
          <a:lstStyle/>
          <a:p>
            <a:pPr marL="16933">
              <a:spcBef>
                <a:spcPts val="133"/>
              </a:spcBef>
            </a:pPr>
            <a:r>
              <a:rPr sz="1867" spc="-7" dirty="0">
                <a:solidFill>
                  <a:srgbClr val="FFFFFF"/>
                </a:solidFill>
                <a:latin typeface="Arial MT"/>
                <a:cs typeface="Arial MT"/>
              </a:rPr>
              <a:t>Our</a:t>
            </a:r>
            <a:r>
              <a:rPr sz="1867" spc="-67" dirty="0">
                <a:solidFill>
                  <a:srgbClr val="FFFFFF"/>
                </a:solidFill>
                <a:latin typeface="Arial MT"/>
                <a:cs typeface="Arial MT"/>
              </a:rPr>
              <a:t> </a:t>
            </a:r>
            <a:r>
              <a:rPr sz="1867" dirty="0">
                <a:solidFill>
                  <a:srgbClr val="FFFFFF"/>
                </a:solidFill>
                <a:latin typeface="Arial MT"/>
                <a:cs typeface="Arial MT"/>
              </a:rPr>
              <a:t>cross-platform</a:t>
            </a:r>
            <a:r>
              <a:rPr sz="1867" spc="-60" dirty="0">
                <a:solidFill>
                  <a:srgbClr val="FFFFFF"/>
                </a:solidFill>
                <a:latin typeface="Arial MT"/>
                <a:cs typeface="Arial MT"/>
              </a:rPr>
              <a:t> </a:t>
            </a:r>
            <a:r>
              <a:rPr sz="1867" dirty="0">
                <a:solidFill>
                  <a:srgbClr val="FFFFFF"/>
                </a:solidFill>
                <a:latin typeface="Arial MT"/>
                <a:cs typeface="Arial MT"/>
              </a:rPr>
              <a:t>code</a:t>
            </a:r>
            <a:endParaRPr sz="1867">
              <a:latin typeface="Arial MT"/>
              <a:cs typeface="Arial MT"/>
            </a:endParaRPr>
          </a:p>
        </p:txBody>
      </p:sp>
      <p:sp>
        <p:nvSpPr>
          <p:cNvPr id="10" name="object 10"/>
          <p:cNvSpPr txBox="1"/>
          <p:nvPr/>
        </p:nvSpPr>
        <p:spPr>
          <a:xfrm>
            <a:off x="6500461" y="4835851"/>
            <a:ext cx="3251200" cy="689077"/>
          </a:xfrm>
          <a:prstGeom prst="rect">
            <a:avLst/>
          </a:prstGeom>
        </p:spPr>
        <p:txBody>
          <a:bodyPr vert="horz" wrap="square" lIns="0" tIns="16933" rIns="0" bIns="0" rtlCol="0">
            <a:spAutoFit/>
          </a:bodyPr>
          <a:lstStyle/>
          <a:p>
            <a:pPr marL="1253035">
              <a:spcBef>
                <a:spcPts val="133"/>
              </a:spcBef>
            </a:pPr>
            <a:r>
              <a:rPr sz="1867" spc="-7" dirty="0">
                <a:solidFill>
                  <a:srgbClr val="FFFFFF"/>
                </a:solidFill>
                <a:latin typeface="Arial MT"/>
                <a:cs typeface="Arial MT"/>
              </a:rPr>
              <a:t>Native</a:t>
            </a:r>
            <a:r>
              <a:rPr sz="1867" spc="-67" dirty="0">
                <a:solidFill>
                  <a:srgbClr val="FFFFFF"/>
                </a:solidFill>
                <a:latin typeface="Arial MT"/>
                <a:cs typeface="Arial MT"/>
              </a:rPr>
              <a:t> </a:t>
            </a:r>
            <a:r>
              <a:rPr sz="1867" spc="-7" dirty="0">
                <a:solidFill>
                  <a:srgbClr val="FFFFFF"/>
                </a:solidFill>
                <a:latin typeface="Arial MT"/>
                <a:cs typeface="Arial MT"/>
              </a:rPr>
              <a:t>land</a:t>
            </a:r>
            <a:endParaRPr sz="1867">
              <a:latin typeface="Arial MT"/>
              <a:cs typeface="Arial MT"/>
            </a:endParaRPr>
          </a:p>
          <a:p>
            <a:pPr marL="423323" indent="-407236">
              <a:spcBef>
                <a:spcPts val="1440"/>
              </a:spcBef>
              <a:buChar char="●"/>
              <a:tabLst>
                <a:tab pos="423323" algn="l"/>
                <a:tab pos="424169" algn="l"/>
              </a:tabLst>
            </a:pPr>
            <a:r>
              <a:rPr sz="1333" spc="-7" dirty="0">
                <a:solidFill>
                  <a:srgbClr val="FFFFFF"/>
                </a:solidFill>
                <a:latin typeface="Arial MT"/>
                <a:cs typeface="Arial MT"/>
              </a:rPr>
              <a:t>Also</a:t>
            </a:r>
            <a:r>
              <a:rPr sz="1333" spc="-33" dirty="0">
                <a:solidFill>
                  <a:srgbClr val="FFFFFF"/>
                </a:solidFill>
                <a:latin typeface="Arial MT"/>
                <a:cs typeface="Arial MT"/>
              </a:rPr>
              <a:t> </a:t>
            </a:r>
            <a:r>
              <a:rPr sz="1333" spc="-7" dirty="0">
                <a:solidFill>
                  <a:srgbClr val="FFFFFF"/>
                </a:solidFill>
                <a:latin typeface="Arial MT"/>
                <a:cs typeface="Arial MT"/>
              </a:rPr>
              <a:t>fast</a:t>
            </a:r>
            <a:r>
              <a:rPr sz="1333" spc="-27" dirty="0">
                <a:solidFill>
                  <a:srgbClr val="FFFFFF"/>
                </a:solidFill>
                <a:latin typeface="Arial MT"/>
                <a:cs typeface="Arial MT"/>
              </a:rPr>
              <a:t> </a:t>
            </a:r>
            <a:r>
              <a:rPr sz="1333" spc="-7" dirty="0">
                <a:solidFill>
                  <a:srgbClr val="FFFFFF"/>
                </a:solidFill>
                <a:latin typeface="Arial MT"/>
                <a:cs typeface="Arial MT"/>
              </a:rPr>
              <a:t>performance</a:t>
            </a:r>
            <a:r>
              <a:rPr sz="1333" spc="-27" dirty="0">
                <a:solidFill>
                  <a:srgbClr val="FFFFFF"/>
                </a:solidFill>
                <a:latin typeface="Arial MT"/>
                <a:cs typeface="Arial MT"/>
              </a:rPr>
              <a:t> </a:t>
            </a:r>
            <a:r>
              <a:rPr sz="1333" spc="-7" dirty="0">
                <a:solidFill>
                  <a:srgbClr val="FFFFFF"/>
                </a:solidFill>
                <a:latin typeface="Arial MT"/>
                <a:cs typeface="Arial MT"/>
              </a:rPr>
              <a:t>here,</a:t>
            </a:r>
            <a:r>
              <a:rPr sz="1333" spc="-33" dirty="0">
                <a:solidFill>
                  <a:srgbClr val="FFFFFF"/>
                </a:solidFill>
                <a:latin typeface="Arial MT"/>
                <a:cs typeface="Arial MT"/>
              </a:rPr>
              <a:t> </a:t>
            </a:r>
            <a:r>
              <a:rPr sz="1333" spc="-7" dirty="0">
                <a:solidFill>
                  <a:srgbClr val="FFFFFF"/>
                </a:solidFill>
                <a:latin typeface="Arial MT"/>
                <a:cs typeface="Arial MT"/>
              </a:rPr>
              <a:t>however:</a:t>
            </a:r>
            <a:endParaRPr sz="1333">
              <a:latin typeface="Arial MT"/>
              <a:cs typeface="Arial MT"/>
            </a:endParaRPr>
          </a:p>
        </p:txBody>
      </p:sp>
      <p:sp>
        <p:nvSpPr>
          <p:cNvPr id="11" name="object 11"/>
          <p:cNvSpPr txBox="1"/>
          <p:nvPr/>
        </p:nvSpPr>
        <p:spPr>
          <a:xfrm>
            <a:off x="6500462" y="5506561"/>
            <a:ext cx="3749887" cy="632460"/>
          </a:xfrm>
          <a:prstGeom prst="rect">
            <a:avLst/>
          </a:prstGeom>
        </p:spPr>
        <p:txBody>
          <a:bodyPr vert="horz" wrap="square" lIns="0" tIns="16933" rIns="0" bIns="0" rtlCol="0">
            <a:spAutoFit/>
          </a:bodyPr>
          <a:lstStyle/>
          <a:p>
            <a:pPr marL="1032908" indent="-408083">
              <a:spcBef>
                <a:spcPts val="133"/>
              </a:spcBef>
              <a:buChar char="○"/>
              <a:tabLst>
                <a:tab pos="1032908" algn="l"/>
                <a:tab pos="1033754" algn="l"/>
              </a:tabLst>
            </a:pPr>
            <a:r>
              <a:rPr sz="1333" spc="-7" dirty="0">
                <a:solidFill>
                  <a:srgbClr val="FFFFFF"/>
                </a:solidFill>
                <a:latin typeface="Arial MT"/>
                <a:cs typeface="Arial MT"/>
              </a:rPr>
              <a:t>Expensive</a:t>
            </a:r>
            <a:r>
              <a:rPr sz="1333" spc="-40" dirty="0">
                <a:solidFill>
                  <a:srgbClr val="FFFFFF"/>
                </a:solidFill>
                <a:latin typeface="Arial MT"/>
                <a:cs typeface="Arial MT"/>
              </a:rPr>
              <a:t> </a:t>
            </a:r>
            <a:r>
              <a:rPr sz="1333" spc="-7" dirty="0">
                <a:solidFill>
                  <a:srgbClr val="FFFFFF"/>
                </a:solidFill>
                <a:latin typeface="Arial MT"/>
                <a:cs typeface="Arial MT"/>
              </a:rPr>
              <a:t>to</a:t>
            </a:r>
            <a:r>
              <a:rPr sz="1333" spc="-33" dirty="0">
                <a:solidFill>
                  <a:srgbClr val="FFFFFF"/>
                </a:solidFill>
                <a:latin typeface="Arial MT"/>
                <a:cs typeface="Arial MT"/>
              </a:rPr>
              <a:t> </a:t>
            </a:r>
            <a:r>
              <a:rPr sz="1333" spc="-7" dirty="0">
                <a:solidFill>
                  <a:srgbClr val="FFFFFF"/>
                </a:solidFill>
                <a:latin typeface="Arial MT"/>
                <a:cs typeface="Arial MT"/>
              </a:rPr>
              <a:t>travel</a:t>
            </a:r>
            <a:r>
              <a:rPr sz="1333" spc="-33" dirty="0">
                <a:solidFill>
                  <a:srgbClr val="FFFFFF"/>
                </a:solidFill>
                <a:latin typeface="Arial MT"/>
                <a:cs typeface="Arial MT"/>
              </a:rPr>
              <a:t> </a:t>
            </a:r>
            <a:r>
              <a:rPr sz="1333" spc="-7" dirty="0">
                <a:solidFill>
                  <a:srgbClr val="FFFFFF"/>
                </a:solidFill>
                <a:latin typeface="Arial MT"/>
                <a:cs typeface="Arial MT"/>
              </a:rPr>
              <a:t>to</a:t>
            </a:r>
            <a:endParaRPr sz="1333">
              <a:latin typeface="Arial MT"/>
              <a:cs typeface="Arial MT"/>
            </a:endParaRPr>
          </a:p>
          <a:p>
            <a:pPr marL="423323" marR="6773" indent="-407236">
              <a:buChar char="●"/>
              <a:tabLst>
                <a:tab pos="423323" algn="l"/>
                <a:tab pos="424169" algn="l"/>
              </a:tabLst>
            </a:pPr>
            <a:r>
              <a:rPr sz="1333" spc="-7" dirty="0">
                <a:solidFill>
                  <a:srgbClr val="FFFFFF"/>
                </a:solidFill>
                <a:latin typeface="Arial MT"/>
                <a:cs typeface="Arial MT"/>
              </a:rPr>
              <a:t>We </a:t>
            </a:r>
            <a:r>
              <a:rPr sz="1333" dirty="0">
                <a:solidFill>
                  <a:srgbClr val="FFFFFF"/>
                </a:solidFill>
                <a:latin typeface="Arial MT"/>
                <a:cs typeface="Arial MT"/>
              </a:rPr>
              <a:t>can’t </a:t>
            </a:r>
            <a:r>
              <a:rPr sz="1333" spc="-7" dirty="0">
                <a:solidFill>
                  <a:srgbClr val="FFFFFF"/>
                </a:solidFill>
                <a:latin typeface="Arial MT"/>
                <a:cs typeface="Arial MT"/>
              </a:rPr>
              <a:t>afford to go here too often, just like </a:t>
            </a:r>
            <a:r>
              <a:rPr sz="1333" spc="-353" dirty="0">
                <a:solidFill>
                  <a:srgbClr val="FFFFFF"/>
                </a:solidFill>
                <a:latin typeface="Arial MT"/>
                <a:cs typeface="Arial MT"/>
              </a:rPr>
              <a:t> </a:t>
            </a:r>
            <a:r>
              <a:rPr sz="1333" spc="-7" dirty="0">
                <a:solidFill>
                  <a:srgbClr val="FFFFFF"/>
                </a:solidFill>
                <a:latin typeface="Arial MT"/>
                <a:cs typeface="Arial MT"/>
              </a:rPr>
              <a:t>we</a:t>
            </a:r>
            <a:r>
              <a:rPr sz="1333" spc="-27" dirty="0">
                <a:solidFill>
                  <a:srgbClr val="FFFFFF"/>
                </a:solidFill>
                <a:latin typeface="Arial MT"/>
                <a:cs typeface="Arial MT"/>
              </a:rPr>
              <a:t> </a:t>
            </a:r>
            <a:r>
              <a:rPr sz="1333" dirty="0">
                <a:solidFill>
                  <a:srgbClr val="FFFFFF"/>
                </a:solidFill>
                <a:latin typeface="Arial MT"/>
                <a:cs typeface="Arial MT"/>
              </a:rPr>
              <a:t>can’t</a:t>
            </a:r>
            <a:r>
              <a:rPr sz="1333" spc="-20" dirty="0">
                <a:solidFill>
                  <a:srgbClr val="FFFFFF"/>
                </a:solidFill>
                <a:latin typeface="Arial MT"/>
                <a:cs typeface="Arial MT"/>
              </a:rPr>
              <a:t> </a:t>
            </a:r>
            <a:r>
              <a:rPr sz="1333" spc="-7" dirty="0">
                <a:solidFill>
                  <a:srgbClr val="FFFFFF"/>
                </a:solidFill>
                <a:latin typeface="Arial MT"/>
                <a:cs typeface="Arial MT"/>
              </a:rPr>
              <a:t>afford</a:t>
            </a:r>
            <a:r>
              <a:rPr sz="1333" spc="-20" dirty="0">
                <a:solidFill>
                  <a:srgbClr val="FFFFFF"/>
                </a:solidFill>
                <a:latin typeface="Arial MT"/>
                <a:cs typeface="Arial MT"/>
              </a:rPr>
              <a:t> </a:t>
            </a:r>
            <a:r>
              <a:rPr sz="1333" spc="-7" dirty="0">
                <a:solidFill>
                  <a:srgbClr val="FFFFFF"/>
                </a:solidFill>
                <a:latin typeface="Arial MT"/>
                <a:cs typeface="Arial MT"/>
              </a:rPr>
              <a:t>beach</a:t>
            </a:r>
            <a:r>
              <a:rPr sz="1333" spc="-20" dirty="0">
                <a:solidFill>
                  <a:srgbClr val="FFFFFF"/>
                </a:solidFill>
                <a:latin typeface="Arial MT"/>
                <a:cs typeface="Arial MT"/>
              </a:rPr>
              <a:t> </a:t>
            </a:r>
            <a:r>
              <a:rPr sz="1333" dirty="0">
                <a:solidFill>
                  <a:srgbClr val="FFFFFF"/>
                </a:solidFill>
                <a:latin typeface="Arial MT"/>
                <a:cs typeface="Arial MT"/>
              </a:rPr>
              <a:t>vacations</a:t>
            </a:r>
            <a:r>
              <a:rPr sz="1333" spc="-27" dirty="0">
                <a:solidFill>
                  <a:srgbClr val="FFFFFF"/>
                </a:solidFill>
                <a:latin typeface="Arial MT"/>
                <a:cs typeface="Arial MT"/>
              </a:rPr>
              <a:t> </a:t>
            </a:r>
            <a:r>
              <a:rPr sz="1333" spc="-7" dirty="0">
                <a:solidFill>
                  <a:srgbClr val="FFFFFF"/>
                </a:solidFill>
                <a:latin typeface="Arial MT"/>
                <a:cs typeface="Arial MT"/>
              </a:rPr>
              <a:t>every</a:t>
            </a:r>
            <a:r>
              <a:rPr sz="1333" spc="-20" dirty="0">
                <a:solidFill>
                  <a:srgbClr val="FFFFFF"/>
                </a:solidFill>
                <a:latin typeface="Arial MT"/>
                <a:cs typeface="Arial MT"/>
              </a:rPr>
              <a:t> </a:t>
            </a:r>
            <a:r>
              <a:rPr sz="1333" spc="-7" dirty="0">
                <a:solidFill>
                  <a:srgbClr val="FFFFFF"/>
                </a:solidFill>
                <a:latin typeface="Arial MT"/>
                <a:cs typeface="Arial MT"/>
              </a:rPr>
              <a:t>week</a:t>
            </a:r>
            <a:endParaRPr sz="1333">
              <a:latin typeface="Arial MT"/>
              <a:cs typeface="Arial MT"/>
            </a:endParaRPr>
          </a:p>
        </p:txBody>
      </p:sp>
      <p:sp>
        <p:nvSpPr>
          <p:cNvPr id="12" name="object 12"/>
          <p:cNvSpPr txBox="1"/>
          <p:nvPr/>
        </p:nvSpPr>
        <p:spPr>
          <a:xfrm>
            <a:off x="1977662" y="5282227"/>
            <a:ext cx="3563620" cy="837579"/>
          </a:xfrm>
          <a:prstGeom prst="rect">
            <a:avLst/>
          </a:prstGeom>
        </p:spPr>
        <p:txBody>
          <a:bodyPr vert="horz" wrap="square" lIns="0" tIns="16933" rIns="0" bIns="0" rtlCol="0">
            <a:spAutoFit/>
          </a:bodyPr>
          <a:lstStyle/>
          <a:p>
            <a:pPr marL="423323" indent="-407236">
              <a:spcBef>
                <a:spcPts val="133"/>
              </a:spcBef>
              <a:buChar char="●"/>
              <a:tabLst>
                <a:tab pos="423323" algn="l"/>
                <a:tab pos="424169" algn="l"/>
              </a:tabLst>
            </a:pPr>
            <a:r>
              <a:rPr sz="1333" spc="-7" dirty="0">
                <a:solidFill>
                  <a:srgbClr val="FFFFFF"/>
                </a:solidFill>
                <a:latin typeface="Arial MT"/>
                <a:cs typeface="Arial MT"/>
              </a:rPr>
              <a:t>Everything</a:t>
            </a:r>
            <a:r>
              <a:rPr sz="1333" spc="-40" dirty="0">
                <a:solidFill>
                  <a:srgbClr val="FFFFFF"/>
                </a:solidFill>
                <a:latin typeface="Arial MT"/>
                <a:cs typeface="Arial MT"/>
              </a:rPr>
              <a:t> </a:t>
            </a:r>
            <a:r>
              <a:rPr sz="1333" spc="-7" dirty="0">
                <a:solidFill>
                  <a:srgbClr val="FFFFFF"/>
                </a:solidFill>
                <a:latin typeface="Arial MT"/>
                <a:cs typeface="Arial MT"/>
              </a:rPr>
              <a:t>in</a:t>
            </a:r>
            <a:r>
              <a:rPr sz="1333" spc="-33" dirty="0">
                <a:solidFill>
                  <a:srgbClr val="FFFFFF"/>
                </a:solidFill>
                <a:latin typeface="Arial MT"/>
                <a:cs typeface="Arial MT"/>
              </a:rPr>
              <a:t> </a:t>
            </a:r>
            <a:r>
              <a:rPr sz="1333" spc="-7" dirty="0">
                <a:solidFill>
                  <a:srgbClr val="FFFFFF"/>
                </a:solidFill>
                <a:latin typeface="Arial MT"/>
                <a:cs typeface="Arial MT"/>
              </a:rPr>
              <a:t>our</a:t>
            </a:r>
            <a:r>
              <a:rPr sz="1333" spc="-33" dirty="0">
                <a:solidFill>
                  <a:srgbClr val="FFFFFF"/>
                </a:solidFill>
                <a:latin typeface="Arial MT"/>
                <a:cs typeface="Arial MT"/>
              </a:rPr>
              <a:t> </a:t>
            </a:r>
            <a:r>
              <a:rPr sz="1333" dirty="0">
                <a:solidFill>
                  <a:srgbClr val="FFFFFF"/>
                </a:solidFill>
                <a:latin typeface="Arial MT"/>
                <a:cs typeface="Arial MT"/>
              </a:rPr>
              <a:t>control</a:t>
            </a:r>
            <a:endParaRPr sz="1333">
              <a:latin typeface="Arial MT"/>
              <a:cs typeface="Arial MT"/>
            </a:endParaRPr>
          </a:p>
          <a:p>
            <a:pPr marL="423323" marR="649377" indent="-407236">
              <a:buChar char="●"/>
              <a:tabLst>
                <a:tab pos="423323" algn="l"/>
                <a:tab pos="424169" algn="l"/>
              </a:tabLst>
            </a:pPr>
            <a:r>
              <a:rPr sz="1333" spc="-7" dirty="0">
                <a:solidFill>
                  <a:srgbClr val="FFFFFF"/>
                </a:solidFill>
                <a:latin typeface="Arial MT"/>
                <a:cs typeface="Arial MT"/>
              </a:rPr>
              <a:t>Things we do here have fantastic </a:t>
            </a:r>
            <a:r>
              <a:rPr sz="1333" spc="-353" dirty="0">
                <a:solidFill>
                  <a:srgbClr val="FFFFFF"/>
                </a:solidFill>
                <a:latin typeface="Arial MT"/>
                <a:cs typeface="Arial MT"/>
              </a:rPr>
              <a:t> </a:t>
            </a:r>
            <a:r>
              <a:rPr sz="1333" spc="-7" dirty="0">
                <a:solidFill>
                  <a:srgbClr val="FFFFFF"/>
                </a:solidFill>
                <a:latin typeface="Arial MT"/>
                <a:cs typeface="Arial MT"/>
              </a:rPr>
              <a:t>performance</a:t>
            </a:r>
            <a:r>
              <a:rPr sz="1333" spc="-20" dirty="0">
                <a:solidFill>
                  <a:srgbClr val="FFFFFF"/>
                </a:solidFill>
                <a:latin typeface="Arial MT"/>
                <a:cs typeface="Arial MT"/>
              </a:rPr>
              <a:t> </a:t>
            </a:r>
            <a:r>
              <a:rPr sz="1333" spc="-7" dirty="0">
                <a:solidFill>
                  <a:srgbClr val="FFFFFF"/>
                </a:solidFill>
                <a:latin typeface="Arial MT"/>
                <a:cs typeface="Arial MT"/>
              </a:rPr>
              <a:t>and</a:t>
            </a:r>
            <a:r>
              <a:rPr sz="1333" spc="-13" dirty="0">
                <a:solidFill>
                  <a:srgbClr val="FFFFFF"/>
                </a:solidFill>
                <a:latin typeface="Arial MT"/>
                <a:cs typeface="Arial MT"/>
              </a:rPr>
              <a:t> </a:t>
            </a:r>
            <a:r>
              <a:rPr sz="1333" spc="-7" dirty="0">
                <a:solidFill>
                  <a:srgbClr val="FFFFFF"/>
                </a:solidFill>
                <a:latin typeface="Arial MT"/>
                <a:cs typeface="Arial MT"/>
              </a:rPr>
              <a:t>are</a:t>
            </a:r>
            <a:r>
              <a:rPr sz="1333" spc="-20" dirty="0">
                <a:solidFill>
                  <a:srgbClr val="FFFFFF"/>
                </a:solidFill>
                <a:latin typeface="Arial MT"/>
                <a:cs typeface="Arial MT"/>
              </a:rPr>
              <a:t> </a:t>
            </a:r>
            <a:r>
              <a:rPr sz="1333" dirty="0">
                <a:solidFill>
                  <a:srgbClr val="FFFFFF"/>
                </a:solidFill>
                <a:latin typeface="Arial MT"/>
                <a:cs typeface="Arial MT"/>
              </a:rPr>
              <a:t>cheap</a:t>
            </a:r>
            <a:endParaRPr sz="1333">
              <a:latin typeface="Arial MT"/>
              <a:cs typeface="Arial MT"/>
            </a:endParaRPr>
          </a:p>
          <a:p>
            <a:pPr marL="423323" indent="-407236">
              <a:buChar char="●"/>
              <a:tabLst>
                <a:tab pos="423323" algn="l"/>
                <a:tab pos="424169" algn="l"/>
              </a:tabLst>
            </a:pPr>
            <a:r>
              <a:rPr sz="1333" spc="-7" dirty="0">
                <a:solidFill>
                  <a:srgbClr val="FFFFFF"/>
                </a:solidFill>
                <a:latin typeface="Arial MT"/>
                <a:cs typeface="Arial MT"/>
              </a:rPr>
              <a:t>We</a:t>
            </a:r>
            <a:r>
              <a:rPr sz="1333" spc="-27" dirty="0">
                <a:solidFill>
                  <a:srgbClr val="FFFFFF"/>
                </a:solidFill>
                <a:latin typeface="Arial MT"/>
                <a:cs typeface="Arial MT"/>
              </a:rPr>
              <a:t> </a:t>
            </a:r>
            <a:r>
              <a:rPr sz="1333" dirty="0">
                <a:solidFill>
                  <a:srgbClr val="FFFFFF"/>
                </a:solidFill>
                <a:latin typeface="Arial MT"/>
                <a:cs typeface="Arial MT"/>
              </a:rPr>
              <a:t>should</a:t>
            </a:r>
            <a:r>
              <a:rPr sz="1333" spc="-20" dirty="0">
                <a:solidFill>
                  <a:srgbClr val="FFFFFF"/>
                </a:solidFill>
                <a:latin typeface="Arial MT"/>
                <a:cs typeface="Arial MT"/>
              </a:rPr>
              <a:t> </a:t>
            </a:r>
            <a:r>
              <a:rPr sz="1333" dirty="0">
                <a:solidFill>
                  <a:srgbClr val="FFFFFF"/>
                </a:solidFill>
                <a:latin typeface="Arial MT"/>
                <a:cs typeface="Arial MT"/>
              </a:rPr>
              <a:t>stay</a:t>
            </a:r>
            <a:r>
              <a:rPr sz="1333" spc="-20" dirty="0">
                <a:solidFill>
                  <a:srgbClr val="FFFFFF"/>
                </a:solidFill>
                <a:latin typeface="Arial MT"/>
                <a:cs typeface="Arial MT"/>
              </a:rPr>
              <a:t> </a:t>
            </a:r>
            <a:r>
              <a:rPr sz="1333" spc="-7" dirty="0">
                <a:solidFill>
                  <a:srgbClr val="FFFFFF"/>
                </a:solidFill>
                <a:latin typeface="Arial MT"/>
                <a:cs typeface="Arial MT"/>
              </a:rPr>
              <a:t>here</a:t>
            </a:r>
            <a:r>
              <a:rPr sz="1333" spc="-20" dirty="0">
                <a:solidFill>
                  <a:srgbClr val="FFFFFF"/>
                </a:solidFill>
                <a:latin typeface="Arial MT"/>
                <a:cs typeface="Arial MT"/>
              </a:rPr>
              <a:t> </a:t>
            </a:r>
            <a:r>
              <a:rPr sz="1333" spc="-7" dirty="0">
                <a:solidFill>
                  <a:srgbClr val="FFFFFF"/>
                </a:solidFill>
                <a:latin typeface="Arial MT"/>
                <a:cs typeface="Arial MT"/>
              </a:rPr>
              <a:t>as</a:t>
            </a:r>
            <a:r>
              <a:rPr sz="1333" spc="-20" dirty="0">
                <a:solidFill>
                  <a:srgbClr val="FFFFFF"/>
                </a:solidFill>
                <a:latin typeface="Arial MT"/>
                <a:cs typeface="Arial MT"/>
              </a:rPr>
              <a:t> </a:t>
            </a:r>
            <a:r>
              <a:rPr sz="1333" dirty="0">
                <a:solidFill>
                  <a:srgbClr val="FFFFFF"/>
                </a:solidFill>
                <a:latin typeface="Arial MT"/>
                <a:cs typeface="Arial MT"/>
              </a:rPr>
              <a:t>much</a:t>
            </a:r>
            <a:r>
              <a:rPr sz="1333" spc="-20" dirty="0">
                <a:solidFill>
                  <a:srgbClr val="FFFFFF"/>
                </a:solidFill>
                <a:latin typeface="Arial MT"/>
                <a:cs typeface="Arial MT"/>
              </a:rPr>
              <a:t> </a:t>
            </a:r>
            <a:r>
              <a:rPr sz="1333" spc="-7" dirty="0">
                <a:solidFill>
                  <a:srgbClr val="FFFFFF"/>
                </a:solidFill>
                <a:latin typeface="Arial MT"/>
                <a:cs typeface="Arial MT"/>
              </a:rPr>
              <a:t>as</a:t>
            </a:r>
            <a:r>
              <a:rPr sz="1333" spc="-20" dirty="0">
                <a:solidFill>
                  <a:srgbClr val="FFFFFF"/>
                </a:solidFill>
                <a:latin typeface="Arial MT"/>
                <a:cs typeface="Arial MT"/>
              </a:rPr>
              <a:t> </a:t>
            </a:r>
            <a:r>
              <a:rPr sz="1333" spc="-7" dirty="0">
                <a:solidFill>
                  <a:srgbClr val="FFFFFF"/>
                </a:solidFill>
                <a:latin typeface="Arial MT"/>
                <a:cs typeface="Arial MT"/>
              </a:rPr>
              <a:t>possible</a:t>
            </a:r>
            <a:endParaRPr sz="1333">
              <a:latin typeface="Arial MT"/>
              <a:cs typeface="Arial MT"/>
            </a:endParaRPr>
          </a:p>
        </p:txBody>
      </p:sp>
    </p:spTree>
    <p:extLst>
      <p:ext uri="{BB962C8B-B14F-4D97-AF65-F5344CB8AC3E}">
        <p14:creationId xmlns:p14="http://schemas.microsoft.com/office/powerpoint/2010/main" val="2603170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744133" cy="591551"/>
          </a:xfrm>
          <a:prstGeom prst="rect">
            <a:avLst/>
          </a:prstGeom>
        </p:spPr>
        <p:txBody>
          <a:bodyPr vert="horz" wrap="square" lIns="0" tIns="16933" rIns="0" bIns="0" rtlCol="0" anchor="ctr">
            <a:spAutoFit/>
          </a:bodyPr>
          <a:lstStyle/>
          <a:p>
            <a:pPr marL="16933">
              <a:spcBef>
                <a:spcPts val="133"/>
              </a:spcBef>
            </a:pPr>
            <a:r>
              <a:rPr sz="3733" spc="-7" dirty="0"/>
              <a:t>Widgets</a:t>
            </a:r>
            <a:endParaRPr sz="3733"/>
          </a:p>
        </p:txBody>
      </p:sp>
      <p:sp>
        <p:nvSpPr>
          <p:cNvPr id="3" name="object 3"/>
          <p:cNvSpPr txBox="1"/>
          <p:nvPr/>
        </p:nvSpPr>
        <p:spPr>
          <a:xfrm>
            <a:off x="695032" y="1590311"/>
            <a:ext cx="10417387" cy="2573695"/>
          </a:xfrm>
          <a:prstGeom prst="rect">
            <a:avLst/>
          </a:prstGeom>
        </p:spPr>
        <p:txBody>
          <a:bodyPr vert="horz" wrap="square" lIns="0" tIns="52492" rIns="0" bIns="0" rtlCol="0">
            <a:spAutoFit/>
          </a:bodyPr>
          <a:lstStyle/>
          <a:p>
            <a:pPr marL="443642" indent="-427556">
              <a:spcBef>
                <a:spcPts val="412"/>
              </a:spcBef>
              <a:buChar char="●"/>
              <a:tabLst>
                <a:tab pos="443642" algn="l"/>
                <a:tab pos="444489" algn="l"/>
              </a:tabLst>
            </a:pPr>
            <a:r>
              <a:rPr sz="1600" spc="-7" dirty="0">
                <a:solidFill>
                  <a:srgbClr val="ADADAD"/>
                </a:solidFill>
                <a:latin typeface="Arial MT"/>
                <a:cs typeface="Arial MT"/>
              </a:rPr>
              <a:t>To</a:t>
            </a:r>
            <a:r>
              <a:rPr sz="1600" spc="-13" dirty="0">
                <a:solidFill>
                  <a:srgbClr val="ADADAD"/>
                </a:solidFill>
                <a:latin typeface="Arial MT"/>
                <a:cs typeface="Arial MT"/>
              </a:rPr>
              <a:t> </a:t>
            </a:r>
            <a:r>
              <a:rPr sz="1600" spc="-7" dirty="0">
                <a:solidFill>
                  <a:srgbClr val="ADADAD"/>
                </a:solidFill>
                <a:latin typeface="Arial MT"/>
                <a:cs typeface="Arial MT"/>
              </a:rPr>
              <a:t>build</a:t>
            </a:r>
            <a:r>
              <a:rPr sz="1600" spc="-13" dirty="0">
                <a:solidFill>
                  <a:srgbClr val="ADADAD"/>
                </a:solidFill>
                <a:latin typeface="Arial MT"/>
                <a:cs typeface="Arial MT"/>
              </a:rPr>
              <a:t> </a:t>
            </a:r>
            <a:r>
              <a:rPr sz="1600" spc="-7" dirty="0">
                <a:solidFill>
                  <a:srgbClr val="ADADAD"/>
                </a:solidFill>
                <a:latin typeface="Arial MT"/>
                <a:cs typeface="Arial MT"/>
              </a:rPr>
              <a:t>UIs, we</a:t>
            </a:r>
            <a:r>
              <a:rPr sz="1600" spc="-13" dirty="0">
                <a:solidFill>
                  <a:srgbClr val="ADADAD"/>
                </a:solidFill>
                <a:latin typeface="Arial MT"/>
                <a:cs typeface="Arial MT"/>
              </a:rPr>
              <a:t> </a:t>
            </a:r>
            <a:r>
              <a:rPr sz="1600" spc="-7" dirty="0">
                <a:solidFill>
                  <a:srgbClr val="ADADAD"/>
                </a:solidFill>
                <a:latin typeface="Arial MT"/>
                <a:cs typeface="Arial MT"/>
              </a:rPr>
              <a:t>have Widgets</a:t>
            </a:r>
            <a:r>
              <a:rPr sz="1600" spc="-13" dirty="0">
                <a:solidFill>
                  <a:srgbClr val="ADADAD"/>
                </a:solidFill>
                <a:latin typeface="Arial MT"/>
                <a:cs typeface="Arial MT"/>
              </a:rPr>
              <a:t> </a:t>
            </a:r>
            <a:r>
              <a:rPr sz="1600" dirty="0">
                <a:solidFill>
                  <a:srgbClr val="ADADAD"/>
                </a:solidFill>
                <a:latin typeface="Arial MT"/>
                <a:cs typeface="Arial MT"/>
              </a:rPr>
              <a:t>-&gt;</a:t>
            </a:r>
            <a:r>
              <a:rPr sz="1600" spc="-7" dirty="0">
                <a:solidFill>
                  <a:srgbClr val="ADADAD"/>
                </a:solidFill>
                <a:latin typeface="Arial MT"/>
                <a:cs typeface="Arial MT"/>
              </a:rPr>
              <a:t> the</a:t>
            </a:r>
            <a:r>
              <a:rPr sz="1600" spc="-13" dirty="0">
                <a:solidFill>
                  <a:srgbClr val="ADADAD"/>
                </a:solidFill>
                <a:latin typeface="Arial MT"/>
                <a:cs typeface="Arial MT"/>
              </a:rPr>
              <a:t> </a:t>
            </a:r>
            <a:r>
              <a:rPr sz="1600" spc="-7" dirty="0">
                <a:solidFill>
                  <a:srgbClr val="ADADAD"/>
                </a:solidFill>
                <a:latin typeface="Arial MT"/>
                <a:cs typeface="Arial MT"/>
              </a:rPr>
              <a:t>only</a:t>
            </a:r>
            <a:r>
              <a:rPr sz="1600" spc="-13" dirty="0">
                <a:solidFill>
                  <a:srgbClr val="ADADAD"/>
                </a:solidFill>
                <a:latin typeface="Arial MT"/>
                <a:cs typeface="Arial MT"/>
              </a:rPr>
              <a:t> </a:t>
            </a:r>
            <a:r>
              <a:rPr sz="1600" spc="-7" dirty="0">
                <a:solidFill>
                  <a:srgbClr val="ADADAD"/>
                </a:solidFill>
                <a:latin typeface="Arial MT"/>
                <a:cs typeface="Arial MT"/>
              </a:rPr>
              <a:t>UI building</a:t>
            </a:r>
            <a:r>
              <a:rPr sz="1600" spc="-13" dirty="0">
                <a:solidFill>
                  <a:srgbClr val="ADADAD"/>
                </a:solidFill>
                <a:latin typeface="Arial MT"/>
                <a:cs typeface="Arial MT"/>
              </a:rPr>
              <a:t> </a:t>
            </a:r>
            <a:r>
              <a:rPr sz="1600" spc="-7" dirty="0">
                <a:solidFill>
                  <a:srgbClr val="ADADAD"/>
                </a:solidFill>
                <a:latin typeface="Arial MT"/>
                <a:cs typeface="Arial MT"/>
              </a:rPr>
              <a:t>block in</a:t>
            </a:r>
            <a:r>
              <a:rPr sz="1600" spc="-13" dirty="0">
                <a:solidFill>
                  <a:srgbClr val="ADADAD"/>
                </a:solidFill>
                <a:latin typeface="Arial MT"/>
                <a:cs typeface="Arial MT"/>
              </a:rPr>
              <a:t> </a:t>
            </a:r>
            <a:r>
              <a:rPr sz="1600" spc="-7" dirty="0">
                <a:solidFill>
                  <a:srgbClr val="ADADAD"/>
                </a:solidFill>
                <a:latin typeface="Arial MT"/>
                <a:cs typeface="Arial MT"/>
              </a:rPr>
              <a:t>Flutter</a:t>
            </a:r>
            <a:endParaRPr sz="1600">
              <a:latin typeface="Arial MT"/>
              <a:cs typeface="Arial MT"/>
            </a:endParaRPr>
          </a:p>
          <a:p>
            <a:pPr marL="443642" marR="6773" indent="-427556">
              <a:lnSpc>
                <a:spcPct val="114599"/>
              </a:lnSpc>
              <a:buChar char="●"/>
              <a:tabLst>
                <a:tab pos="443642" algn="l"/>
                <a:tab pos="444489" algn="l"/>
              </a:tabLst>
            </a:pPr>
            <a:r>
              <a:rPr sz="1600" spc="-7" dirty="0">
                <a:solidFill>
                  <a:srgbClr val="ADADAD"/>
                </a:solidFill>
                <a:latin typeface="Arial MT"/>
                <a:cs typeface="Arial MT"/>
              </a:rPr>
              <a:t>The whole app is </a:t>
            </a:r>
            <a:r>
              <a:rPr sz="1600" dirty="0">
                <a:solidFill>
                  <a:srgbClr val="ADADAD"/>
                </a:solidFill>
                <a:latin typeface="Arial MT"/>
                <a:cs typeface="Arial MT"/>
              </a:rPr>
              <a:t>a </a:t>
            </a:r>
            <a:r>
              <a:rPr sz="1600" spc="-7" dirty="0">
                <a:solidFill>
                  <a:srgbClr val="ADADAD"/>
                </a:solidFill>
                <a:latin typeface="Arial MT"/>
                <a:cs typeface="Arial MT"/>
              </a:rPr>
              <a:t>Widget. </a:t>
            </a:r>
            <a:r>
              <a:rPr sz="1600" dirty="0">
                <a:solidFill>
                  <a:srgbClr val="ADADAD"/>
                </a:solidFill>
                <a:latin typeface="Arial MT"/>
                <a:cs typeface="Arial MT"/>
              </a:rPr>
              <a:t>A screen </a:t>
            </a:r>
            <a:r>
              <a:rPr sz="1600" spc="-7" dirty="0">
                <a:solidFill>
                  <a:srgbClr val="ADADAD"/>
                </a:solidFill>
                <a:latin typeface="Arial MT"/>
                <a:cs typeface="Arial MT"/>
              </a:rPr>
              <a:t>is </a:t>
            </a:r>
            <a:r>
              <a:rPr sz="1600" dirty="0">
                <a:solidFill>
                  <a:srgbClr val="ADADAD"/>
                </a:solidFill>
                <a:latin typeface="Arial MT"/>
                <a:cs typeface="Arial MT"/>
              </a:rPr>
              <a:t>a </a:t>
            </a:r>
            <a:r>
              <a:rPr sz="1600" spc="-7" dirty="0">
                <a:solidFill>
                  <a:srgbClr val="ADADAD"/>
                </a:solidFill>
                <a:latin typeface="Arial MT"/>
                <a:cs typeface="Arial MT"/>
              </a:rPr>
              <a:t>Widget that </a:t>
            </a:r>
            <a:r>
              <a:rPr sz="1600" dirty="0">
                <a:solidFill>
                  <a:srgbClr val="ADADAD"/>
                </a:solidFill>
                <a:latin typeface="Arial MT"/>
                <a:cs typeface="Arial MT"/>
              </a:rPr>
              <a:t>contains </a:t>
            </a:r>
            <a:r>
              <a:rPr sz="1600" spc="-7" dirty="0">
                <a:solidFill>
                  <a:srgbClr val="ADADAD"/>
                </a:solidFill>
                <a:latin typeface="Arial MT"/>
                <a:cs typeface="Arial MT"/>
              </a:rPr>
              <a:t>Widgets. Widgets are </a:t>
            </a:r>
            <a:r>
              <a:rPr sz="1600" dirty="0">
                <a:solidFill>
                  <a:srgbClr val="ADADAD"/>
                </a:solidFill>
                <a:latin typeface="Arial MT"/>
                <a:cs typeface="Arial MT"/>
              </a:rPr>
              <a:t>made </a:t>
            </a:r>
            <a:r>
              <a:rPr sz="1600" spc="-7" dirty="0">
                <a:solidFill>
                  <a:srgbClr val="ADADAD"/>
                </a:solidFill>
                <a:latin typeface="Arial MT"/>
                <a:cs typeface="Arial MT"/>
              </a:rPr>
              <a:t>by </a:t>
            </a:r>
            <a:r>
              <a:rPr sz="1600" dirty="0">
                <a:solidFill>
                  <a:srgbClr val="ADADAD"/>
                </a:solidFill>
                <a:latin typeface="Arial MT"/>
                <a:cs typeface="Arial MT"/>
              </a:rPr>
              <a:t>composing </a:t>
            </a:r>
            <a:r>
              <a:rPr sz="1600" spc="-7" dirty="0">
                <a:solidFill>
                  <a:srgbClr val="ADADAD"/>
                </a:solidFill>
                <a:latin typeface="Arial MT"/>
                <a:cs typeface="Arial MT"/>
              </a:rPr>
              <a:t>basic </a:t>
            </a:r>
            <a:r>
              <a:rPr sz="1600" spc="-427" dirty="0">
                <a:solidFill>
                  <a:srgbClr val="ADADAD"/>
                </a:solidFill>
                <a:latin typeface="Arial MT"/>
                <a:cs typeface="Arial MT"/>
              </a:rPr>
              <a:t> </a:t>
            </a:r>
            <a:r>
              <a:rPr sz="1600" spc="-7" dirty="0">
                <a:solidFill>
                  <a:srgbClr val="ADADAD"/>
                </a:solidFill>
                <a:latin typeface="Arial MT"/>
                <a:cs typeface="Arial MT"/>
              </a:rPr>
              <a:t>Widgets</a:t>
            </a:r>
            <a:r>
              <a:rPr sz="1600" spc="-13" dirty="0">
                <a:solidFill>
                  <a:srgbClr val="ADADAD"/>
                </a:solidFill>
                <a:latin typeface="Arial MT"/>
                <a:cs typeface="Arial MT"/>
              </a:rPr>
              <a:t> </a:t>
            </a:r>
            <a:r>
              <a:rPr sz="1600" spc="-7" dirty="0">
                <a:solidFill>
                  <a:srgbClr val="ADADAD"/>
                </a:solidFill>
                <a:latin typeface="Arial MT"/>
                <a:cs typeface="Arial MT"/>
              </a:rPr>
              <a:t>into </a:t>
            </a:r>
            <a:r>
              <a:rPr sz="1600" dirty="0">
                <a:solidFill>
                  <a:srgbClr val="ADADAD"/>
                </a:solidFill>
                <a:latin typeface="Arial MT"/>
                <a:cs typeface="Arial MT"/>
              </a:rPr>
              <a:t>more</a:t>
            </a:r>
            <a:r>
              <a:rPr sz="1600" spc="-7" dirty="0">
                <a:solidFill>
                  <a:srgbClr val="ADADAD"/>
                </a:solidFill>
                <a:latin typeface="Arial MT"/>
                <a:cs typeface="Arial MT"/>
              </a:rPr>
              <a:t> advanced Widgets.</a:t>
            </a:r>
            <a:endParaRPr sz="1600">
              <a:latin typeface="Arial MT"/>
              <a:cs typeface="Arial MT"/>
            </a:endParaRPr>
          </a:p>
          <a:p>
            <a:pPr marL="1053227" lvl="1" indent="-427556">
              <a:spcBef>
                <a:spcPts val="279"/>
              </a:spcBef>
              <a:buChar char="○"/>
              <a:tabLst>
                <a:tab pos="1053227" algn="l"/>
                <a:tab pos="1054074" algn="l"/>
              </a:tabLst>
            </a:pPr>
            <a:r>
              <a:rPr sz="1600" spc="-7" dirty="0">
                <a:solidFill>
                  <a:srgbClr val="ADADAD"/>
                </a:solidFill>
                <a:latin typeface="Arial MT"/>
                <a:cs typeface="Arial MT"/>
              </a:rPr>
              <a:t>Yo</a:t>
            </a:r>
            <a:r>
              <a:rPr sz="1600" spc="-67" dirty="0">
                <a:solidFill>
                  <a:srgbClr val="ADADAD"/>
                </a:solidFill>
                <a:latin typeface="Arial MT"/>
                <a:cs typeface="Arial MT"/>
              </a:rPr>
              <a:t> </a:t>
            </a:r>
            <a:r>
              <a:rPr sz="1600" spc="-7" dirty="0">
                <a:solidFill>
                  <a:srgbClr val="ADADAD"/>
                </a:solidFill>
                <a:latin typeface="Arial MT"/>
                <a:cs typeface="Arial MT"/>
              </a:rPr>
              <a:t>dawg?</a:t>
            </a:r>
            <a:endParaRPr sz="1600">
              <a:latin typeface="Arial MT"/>
              <a:cs typeface="Arial MT"/>
            </a:endParaRPr>
          </a:p>
          <a:p>
            <a:pPr marL="443642" indent="-427556">
              <a:spcBef>
                <a:spcPts val="279"/>
              </a:spcBef>
              <a:buChar char="●"/>
              <a:tabLst>
                <a:tab pos="443642" algn="l"/>
                <a:tab pos="444489" algn="l"/>
              </a:tabLst>
            </a:pPr>
            <a:r>
              <a:rPr sz="1600" spc="-7" dirty="0">
                <a:solidFill>
                  <a:srgbClr val="ADADAD"/>
                </a:solidFill>
                <a:latin typeface="Arial MT"/>
                <a:cs typeface="Arial MT"/>
              </a:rPr>
              <a:t>There’s</a:t>
            </a:r>
            <a:r>
              <a:rPr sz="1600" spc="-27" dirty="0">
                <a:solidFill>
                  <a:srgbClr val="ADADAD"/>
                </a:solidFill>
                <a:latin typeface="Arial MT"/>
                <a:cs typeface="Arial MT"/>
              </a:rPr>
              <a:t> </a:t>
            </a:r>
            <a:r>
              <a:rPr sz="1600" dirty="0">
                <a:solidFill>
                  <a:srgbClr val="ADADAD"/>
                </a:solidFill>
                <a:latin typeface="Arial MT"/>
                <a:cs typeface="Arial MT"/>
              </a:rPr>
              <a:t>a</a:t>
            </a:r>
            <a:r>
              <a:rPr sz="1600" spc="-20" dirty="0">
                <a:solidFill>
                  <a:srgbClr val="ADADAD"/>
                </a:solidFill>
                <a:latin typeface="Arial MT"/>
                <a:cs typeface="Arial MT"/>
              </a:rPr>
              <a:t> </a:t>
            </a:r>
            <a:r>
              <a:rPr sz="1600" spc="-7" dirty="0">
                <a:solidFill>
                  <a:srgbClr val="ADADAD"/>
                </a:solidFill>
                <a:latin typeface="Arial MT"/>
                <a:cs typeface="Arial MT"/>
              </a:rPr>
              <a:t>huge</a:t>
            </a:r>
            <a:r>
              <a:rPr sz="1600" spc="-20" dirty="0">
                <a:solidFill>
                  <a:srgbClr val="ADADAD"/>
                </a:solidFill>
                <a:latin typeface="Arial MT"/>
                <a:cs typeface="Arial MT"/>
              </a:rPr>
              <a:t> </a:t>
            </a:r>
            <a:r>
              <a:rPr sz="1600" spc="-7" dirty="0">
                <a:solidFill>
                  <a:srgbClr val="ADADAD"/>
                </a:solidFill>
                <a:latin typeface="Arial MT"/>
                <a:cs typeface="Arial MT"/>
              </a:rPr>
              <a:t>amount</a:t>
            </a:r>
            <a:r>
              <a:rPr sz="1600" spc="-20" dirty="0">
                <a:solidFill>
                  <a:srgbClr val="ADADAD"/>
                </a:solidFill>
                <a:latin typeface="Arial MT"/>
                <a:cs typeface="Arial MT"/>
              </a:rPr>
              <a:t> </a:t>
            </a:r>
            <a:r>
              <a:rPr sz="1600" spc="-7" dirty="0">
                <a:solidFill>
                  <a:srgbClr val="ADADAD"/>
                </a:solidFill>
                <a:latin typeface="Arial MT"/>
                <a:cs typeface="Arial MT"/>
              </a:rPr>
              <a:t>of</a:t>
            </a:r>
            <a:r>
              <a:rPr sz="1600" spc="-20" dirty="0">
                <a:solidFill>
                  <a:srgbClr val="ADADAD"/>
                </a:solidFill>
                <a:latin typeface="Arial MT"/>
                <a:cs typeface="Arial MT"/>
              </a:rPr>
              <a:t> </a:t>
            </a:r>
            <a:r>
              <a:rPr sz="1600" spc="-7" dirty="0">
                <a:solidFill>
                  <a:srgbClr val="ADADAD"/>
                </a:solidFill>
                <a:latin typeface="Arial MT"/>
                <a:cs typeface="Arial MT"/>
              </a:rPr>
              <a:t>different</a:t>
            </a:r>
            <a:r>
              <a:rPr sz="1600" spc="-20" dirty="0">
                <a:solidFill>
                  <a:srgbClr val="ADADAD"/>
                </a:solidFill>
                <a:latin typeface="Arial MT"/>
                <a:cs typeface="Arial MT"/>
              </a:rPr>
              <a:t> </a:t>
            </a:r>
            <a:r>
              <a:rPr sz="1600" spc="-7" dirty="0">
                <a:solidFill>
                  <a:srgbClr val="ADADAD"/>
                </a:solidFill>
                <a:latin typeface="Arial MT"/>
                <a:cs typeface="Arial MT"/>
              </a:rPr>
              <a:t>Widgets</a:t>
            </a:r>
            <a:endParaRPr sz="1600">
              <a:latin typeface="Arial MT"/>
              <a:cs typeface="Arial MT"/>
            </a:endParaRPr>
          </a:p>
          <a:p>
            <a:pPr marL="443642" indent="-427556">
              <a:spcBef>
                <a:spcPts val="279"/>
              </a:spcBef>
              <a:buChar char="●"/>
              <a:tabLst>
                <a:tab pos="443642" algn="l"/>
                <a:tab pos="444489" algn="l"/>
              </a:tabLst>
            </a:pPr>
            <a:r>
              <a:rPr sz="1600" spc="-7" dirty="0">
                <a:solidFill>
                  <a:srgbClr val="ADADAD"/>
                </a:solidFill>
                <a:latin typeface="Arial MT"/>
                <a:cs typeface="Arial MT"/>
              </a:rPr>
              <a:t>Can</a:t>
            </a:r>
            <a:r>
              <a:rPr sz="1600" spc="-47" dirty="0">
                <a:solidFill>
                  <a:srgbClr val="ADADAD"/>
                </a:solidFill>
                <a:latin typeface="Arial MT"/>
                <a:cs typeface="Arial MT"/>
              </a:rPr>
              <a:t> </a:t>
            </a:r>
            <a:r>
              <a:rPr sz="1600" dirty="0">
                <a:solidFill>
                  <a:srgbClr val="ADADAD"/>
                </a:solidFill>
                <a:latin typeface="Arial MT"/>
                <a:cs typeface="Arial MT"/>
              </a:rPr>
              <a:t>represent</a:t>
            </a:r>
            <a:r>
              <a:rPr sz="1600" spc="-47" dirty="0">
                <a:solidFill>
                  <a:srgbClr val="ADADAD"/>
                </a:solidFill>
                <a:latin typeface="Arial MT"/>
                <a:cs typeface="Arial MT"/>
              </a:rPr>
              <a:t> </a:t>
            </a:r>
            <a:r>
              <a:rPr sz="1600" spc="-7" dirty="0">
                <a:solidFill>
                  <a:srgbClr val="ADADAD"/>
                </a:solidFill>
                <a:latin typeface="Arial MT"/>
                <a:cs typeface="Arial MT"/>
              </a:rPr>
              <a:t>a:</a:t>
            </a:r>
            <a:endParaRPr sz="1600">
              <a:latin typeface="Arial MT"/>
              <a:cs typeface="Arial MT"/>
            </a:endParaRPr>
          </a:p>
          <a:p>
            <a:pPr marL="1053227" lvl="1" indent="-427556">
              <a:spcBef>
                <a:spcPts val="279"/>
              </a:spcBef>
              <a:buChar char="○"/>
              <a:tabLst>
                <a:tab pos="1053227" algn="l"/>
                <a:tab pos="1054074" algn="l"/>
              </a:tabLst>
            </a:pPr>
            <a:r>
              <a:rPr sz="1600" spc="-7" dirty="0">
                <a:solidFill>
                  <a:srgbClr val="ADADAD"/>
                </a:solidFill>
                <a:latin typeface="Arial MT"/>
                <a:cs typeface="Arial MT"/>
              </a:rPr>
              <a:t>UI</a:t>
            </a:r>
            <a:r>
              <a:rPr sz="1600" spc="-20" dirty="0">
                <a:solidFill>
                  <a:srgbClr val="ADADAD"/>
                </a:solidFill>
                <a:latin typeface="Arial MT"/>
                <a:cs typeface="Arial MT"/>
              </a:rPr>
              <a:t> </a:t>
            </a:r>
            <a:r>
              <a:rPr sz="1600" spc="-7" dirty="0">
                <a:solidFill>
                  <a:srgbClr val="ADADAD"/>
                </a:solidFill>
                <a:latin typeface="Arial MT"/>
                <a:cs typeface="Arial MT"/>
              </a:rPr>
              <a:t>element,</a:t>
            </a:r>
            <a:r>
              <a:rPr sz="1600" spc="-13" dirty="0">
                <a:solidFill>
                  <a:srgbClr val="ADADAD"/>
                </a:solidFill>
                <a:latin typeface="Arial MT"/>
                <a:cs typeface="Arial MT"/>
              </a:rPr>
              <a:t> </a:t>
            </a:r>
            <a:r>
              <a:rPr sz="1600" dirty="0">
                <a:solidFill>
                  <a:srgbClr val="ADADAD"/>
                </a:solidFill>
                <a:latin typeface="Arial MT"/>
                <a:cs typeface="Arial MT"/>
              </a:rPr>
              <a:t>such</a:t>
            </a:r>
            <a:r>
              <a:rPr sz="1600" spc="-20" dirty="0">
                <a:solidFill>
                  <a:srgbClr val="ADADAD"/>
                </a:solidFill>
                <a:latin typeface="Arial MT"/>
                <a:cs typeface="Arial MT"/>
              </a:rPr>
              <a:t> </a:t>
            </a:r>
            <a:r>
              <a:rPr sz="1600" spc="-7" dirty="0">
                <a:solidFill>
                  <a:srgbClr val="ADADAD"/>
                </a:solidFill>
                <a:latin typeface="Arial MT"/>
                <a:cs typeface="Arial MT"/>
              </a:rPr>
              <a:t>as</a:t>
            </a:r>
            <a:r>
              <a:rPr sz="1600" spc="-13" dirty="0">
                <a:solidFill>
                  <a:srgbClr val="ADADAD"/>
                </a:solidFill>
                <a:latin typeface="Arial MT"/>
                <a:cs typeface="Arial MT"/>
              </a:rPr>
              <a:t> </a:t>
            </a:r>
            <a:r>
              <a:rPr sz="1600" spc="-7" dirty="0">
                <a:solidFill>
                  <a:srgbClr val="ADADAD"/>
                </a:solidFill>
                <a:latin typeface="Arial MT"/>
                <a:cs typeface="Arial MT"/>
              </a:rPr>
              <a:t>Text,</a:t>
            </a:r>
            <a:r>
              <a:rPr sz="1600" spc="-20" dirty="0">
                <a:solidFill>
                  <a:srgbClr val="ADADAD"/>
                </a:solidFill>
                <a:latin typeface="Arial MT"/>
                <a:cs typeface="Arial MT"/>
              </a:rPr>
              <a:t> </a:t>
            </a:r>
            <a:r>
              <a:rPr sz="1600" spc="-7" dirty="0">
                <a:solidFill>
                  <a:srgbClr val="ADADAD"/>
                </a:solidFill>
                <a:latin typeface="Arial MT"/>
                <a:cs typeface="Arial MT"/>
              </a:rPr>
              <a:t>Button,</a:t>
            </a:r>
            <a:r>
              <a:rPr sz="1600" spc="-13" dirty="0">
                <a:solidFill>
                  <a:srgbClr val="ADADAD"/>
                </a:solidFill>
                <a:latin typeface="Arial MT"/>
                <a:cs typeface="Arial MT"/>
              </a:rPr>
              <a:t> </a:t>
            </a:r>
            <a:r>
              <a:rPr sz="1600" spc="-7" dirty="0">
                <a:solidFill>
                  <a:srgbClr val="ADADAD"/>
                </a:solidFill>
                <a:latin typeface="Arial MT"/>
                <a:cs typeface="Arial MT"/>
              </a:rPr>
              <a:t>BottomNavigationBar,</a:t>
            </a:r>
            <a:r>
              <a:rPr sz="1600" spc="-13" dirty="0">
                <a:solidFill>
                  <a:srgbClr val="ADADAD"/>
                </a:solidFill>
                <a:latin typeface="Arial MT"/>
                <a:cs typeface="Arial MT"/>
              </a:rPr>
              <a:t> </a:t>
            </a:r>
            <a:r>
              <a:rPr sz="1600" spc="-7" dirty="0">
                <a:solidFill>
                  <a:srgbClr val="ADADAD"/>
                </a:solidFill>
                <a:latin typeface="Arial MT"/>
                <a:cs typeface="Arial MT"/>
              </a:rPr>
              <a:t>TextField,</a:t>
            </a:r>
            <a:r>
              <a:rPr sz="1600" spc="-20" dirty="0">
                <a:solidFill>
                  <a:srgbClr val="ADADAD"/>
                </a:solidFill>
                <a:latin typeface="Arial MT"/>
                <a:cs typeface="Arial MT"/>
              </a:rPr>
              <a:t> </a:t>
            </a:r>
            <a:r>
              <a:rPr sz="1600" spc="-7" dirty="0">
                <a:solidFill>
                  <a:srgbClr val="ADADAD"/>
                </a:solidFill>
                <a:latin typeface="Arial MT"/>
                <a:cs typeface="Arial MT"/>
              </a:rPr>
              <a:t>etc.</a:t>
            </a:r>
            <a:endParaRPr sz="1600">
              <a:latin typeface="Arial MT"/>
              <a:cs typeface="Arial MT"/>
            </a:endParaRPr>
          </a:p>
          <a:p>
            <a:pPr marL="1053227" lvl="1" indent="-427556">
              <a:spcBef>
                <a:spcPts val="279"/>
              </a:spcBef>
              <a:buChar char="○"/>
              <a:tabLst>
                <a:tab pos="1053227" algn="l"/>
                <a:tab pos="1054074" algn="l"/>
              </a:tabLst>
            </a:pPr>
            <a:r>
              <a:rPr sz="1600" spc="-7" dirty="0">
                <a:solidFill>
                  <a:srgbClr val="ADADAD"/>
                </a:solidFill>
                <a:latin typeface="Arial MT"/>
                <a:cs typeface="Arial MT"/>
              </a:rPr>
              <a:t>Layout</a:t>
            </a:r>
            <a:r>
              <a:rPr sz="1600" spc="-20" dirty="0">
                <a:solidFill>
                  <a:srgbClr val="ADADAD"/>
                </a:solidFill>
                <a:latin typeface="Arial MT"/>
                <a:cs typeface="Arial MT"/>
              </a:rPr>
              <a:t> </a:t>
            </a:r>
            <a:r>
              <a:rPr sz="1600" spc="-7" dirty="0">
                <a:solidFill>
                  <a:srgbClr val="ADADAD"/>
                </a:solidFill>
                <a:latin typeface="Arial MT"/>
                <a:cs typeface="Arial MT"/>
              </a:rPr>
              <a:t>element,</a:t>
            </a:r>
            <a:r>
              <a:rPr sz="1600" spc="-13" dirty="0">
                <a:solidFill>
                  <a:srgbClr val="ADADAD"/>
                </a:solidFill>
                <a:latin typeface="Arial MT"/>
                <a:cs typeface="Arial MT"/>
              </a:rPr>
              <a:t> </a:t>
            </a:r>
            <a:r>
              <a:rPr sz="1600" dirty="0">
                <a:solidFill>
                  <a:srgbClr val="ADADAD"/>
                </a:solidFill>
                <a:latin typeface="Arial MT"/>
                <a:cs typeface="Arial MT"/>
              </a:rPr>
              <a:t>such</a:t>
            </a:r>
            <a:r>
              <a:rPr sz="1600" spc="-20" dirty="0">
                <a:solidFill>
                  <a:srgbClr val="ADADAD"/>
                </a:solidFill>
                <a:latin typeface="Arial MT"/>
                <a:cs typeface="Arial MT"/>
              </a:rPr>
              <a:t> </a:t>
            </a:r>
            <a:r>
              <a:rPr sz="1600" spc="-7" dirty="0">
                <a:solidFill>
                  <a:srgbClr val="ADADAD"/>
                </a:solidFill>
                <a:latin typeface="Arial MT"/>
                <a:cs typeface="Arial MT"/>
              </a:rPr>
              <a:t>as</a:t>
            </a:r>
            <a:r>
              <a:rPr sz="1600" spc="-13" dirty="0">
                <a:solidFill>
                  <a:srgbClr val="ADADAD"/>
                </a:solidFill>
                <a:latin typeface="Arial MT"/>
                <a:cs typeface="Arial MT"/>
              </a:rPr>
              <a:t> </a:t>
            </a:r>
            <a:r>
              <a:rPr sz="1600" spc="-7" dirty="0">
                <a:solidFill>
                  <a:srgbClr val="ADADAD"/>
                </a:solidFill>
                <a:latin typeface="Arial MT"/>
                <a:cs typeface="Arial MT"/>
              </a:rPr>
              <a:t>Padding,</a:t>
            </a:r>
            <a:r>
              <a:rPr sz="1600" spc="-20" dirty="0">
                <a:solidFill>
                  <a:srgbClr val="ADADAD"/>
                </a:solidFill>
                <a:latin typeface="Arial MT"/>
                <a:cs typeface="Arial MT"/>
              </a:rPr>
              <a:t> </a:t>
            </a:r>
            <a:r>
              <a:rPr sz="1600" spc="-7" dirty="0">
                <a:solidFill>
                  <a:srgbClr val="ADADAD"/>
                </a:solidFill>
                <a:latin typeface="Arial MT"/>
                <a:cs typeface="Arial MT"/>
              </a:rPr>
              <a:t>Center,</a:t>
            </a:r>
            <a:r>
              <a:rPr sz="1600" spc="-13" dirty="0">
                <a:solidFill>
                  <a:srgbClr val="ADADAD"/>
                </a:solidFill>
                <a:latin typeface="Arial MT"/>
                <a:cs typeface="Arial MT"/>
              </a:rPr>
              <a:t> </a:t>
            </a:r>
            <a:r>
              <a:rPr sz="1600" spc="-7" dirty="0">
                <a:solidFill>
                  <a:srgbClr val="ADADAD"/>
                </a:solidFill>
                <a:latin typeface="Arial MT"/>
                <a:cs typeface="Arial MT"/>
              </a:rPr>
              <a:t>Stack,</a:t>
            </a:r>
            <a:r>
              <a:rPr sz="1600" spc="-13" dirty="0">
                <a:solidFill>
                  <a:srgbClr val="ADADAD"/>
                </a:solidFill>
                <a:latin typeface="Arial MT"/>
                <a:cs typeface="Arial MT"/>
              </a:rPr>
              <a:t> </a:t>
            </a:r>
            <a:r>
              <a:rPr sz="1600" spc="-7" dirty="0">
                <a:solidFill>
                  <a:srgbClr val="ADADAD"/>
                </a:solidFill>
                <a:latin typeface="Arial MT"/>
                <a:cs typeface="Arial MT"/>
              </a:rPr>
              <a:t>Column,</a:t>
            </a:r>
            <a:r>
              <a:rPr sz="1600" spc="-20" dirty="0">
                <a:solidFill>
                  <a:srgbClr val="ADADAD"/>
                </a:solidFill>
                <a:latin typeface="Arial MT"/>
                <a:cs typeface="Arial MT"/>
              </a:rPr>
              <a:t> </a:t>
            </a:r>
            <a:r>
              <a:rPr sz="1600" spc="-7" dirty="0">
                <a:solidFill>
                  <a:srgbClr val="ADADAD"/>
                </a:solidFill>
                <a:latin typeface="Arial MT"/>
                <a:cs typeface="Arial MT"/>
              </a:rPr>
              <a:t>etc.</a:t>
            </a:r>
            <a:endParaRPr sz="1600">
              <a:latin typeface="Arial MT"/>
              <a:cs typeface="Arial MT"/>
            </a:endParaRPr>
          </a:p>
          <a:p>
            <a:pPr marL="1053227" lvl="1" indent="-427556">
              <a:spcBef>
                <a:spcPts val="279"/>
              </a:spcBef>
              <a:buChar char="○"/>
              <a:tabLst>
                <a:tab pos="1053227" algn="l"/>
                <a:tab pos="1054074" algn="l"/>
              </a:tabLst>
            </a:pPr>
            <a:r>
              <a:rPr sz="1600" spc="-7" dirty="0">
                <a:solidFill>
                  <a:srgbClr val="ADADAD"/>
                </a:solidFill>
                <a:latin typeface="Arial MT"/>
                <a:cs typeface="Arial MT"/>
              </a:rPr>
              <a:t>Completely</a:t>
            </a:r>
            <a:r>
              <a:rPr sz="1600" spc="-27" dirty="0">
                <a:solidFill>
                  <a:srgbClr val="ADADAD"/>
                </a:solidFill>
                <a:latin typeface="Arial MT"/>
                <a:cs typeface="Arial MT"/>
              </a:rPr>
              <a:t> </a:t>
            </a:r>
            <a:r>
              <a:rPr sz="1600" spc="-7" dirty="0">
                <a:solidFill>
                  <a:srgbClr val="ADADAD"/>
                </a:solidFill>
                <a:latin typeface="Arial MT"/>
                <a:cs typeface="Arial MT"/>
              </a:rPr>
              <a:t>new</a:t>
            </a:r>
            <a:r>
              <a:rPr sz="1600" spc="-20" dirty="0">
                <a:solidFill>
                  <a:srgbClr val="ADADAD"/>
                </a:solidFill>
                <a:latin typeface="Arial MT"/>
                <a:cs typeface="Arial MT"/>
              </a:rPr>
              <a:t> </a:t>
            </a:r>
            <a:r>
              <a:rPr sz="1600" dirty="0">
                <a:solidFill>
                  <a:srgbClr val="ADADAD"/>
                </a:solidFill>
                <a:latin typeface="Arial MT"/>
                <a:cs typeface="Arial MT"/>
              </a:rPr>
              <a:t>screen</a:t>
            </a:r>
            <a:r>
              <a:rPr sz="1600" spc="-20" dirty="0">
                <a:solidFill>
                  <a:srgbClr val="ADADAD"/>
                </a:solidFill>
                <a:latin typeface="Arial MT"/>
                <a:cs typeface="Arial MT"/>
              </a:rPr>
              <a:t> </a:t>
            </a:r>
            <a:r>
              <a:rPr sz="1600" dirty="0">
                <a:solidFill>
                  <a:srgbClr val="ADADAD"/>
                </a:solidFill>
                <a:latin typeface="Arial MT"/>
                <a:cs typeface="Arial MT"/>
              </a:rPr>
              <a:t>(Activity/ViewController</a:t>
            </a:r>
            <a:r>
              <a:rPr sz="1600" spc="-20" dirty="0">
                <a:solidFill>
                  <a:srgbClr val="ADADAD"/>
                </a:solidFill>
                <a:latin typeface="Arial MT"/>
                <a:cs typeface="Arial MT"/>
              </a:rPr>
              <a:t> </a:t>
            </a:r>
            <a:r>
              <a:rPr sz="1600" spc="-7" dirty="0">
                <a:solidFill>
                  <a:srgbClr val="ADADAD"/>
                </a:solidFill>
                <a:latin typeface="Arial MT"/>
                <a:cs typeface="Arial MT"/>
              </a:rPr>
              <a:t>equivalent),</a:t>
            </a:r>
            <a:r>
              <a:rPr sz="1600" spc="-27" dirty="0">
                <a:solidFill>
                  <a:srgbClr val="ADADAD"/>
                </a:solidFill>
                <a:latin typeface="Arial MT"/>
                <a:cs typeface="Arial MT"/>
              </a:rPr>
              <a:t> </a:t>
            </a:r>
            <a:r>
              <a:rPr sz="1600" spc="-7" dirty="0">
                <a:solidFill>
                  <a:srgbClr val="ADADAD"/>
                </a:solidFill>
                <a:latin typeface="Arial MT"/>
                <a:cs typeface="Arial MT"/>
              </a:rPr>
              <a:t>for</a:t>
            </a:r>
            <a:r>
              <a:rPr sz="1600" spc="-20" dirty="0">
                <a:solidFill>
                  <a:srgbClr val="ADADAD"/>
                </a:solidFill>
                <a:latin typeface="Arial MT"/>
                <a:cs typeface="Arial MT"/>
              </a:rPr>
              <a:t> </a:t>
            </a:r>
            <a:r>
              <a:rPr sz="1600" spc="-7" dirty="0">
                <a:solidFill>
                  <a:srgbClr val="ADADAD"/>
                </a:solidFill>
                <a:latin typeface="Arial MT"/>
                <a:cs typeface="Arial MT"/>
              </a:rPr>
              <a:t>example:</a:t>
            </a:r>
            <a:endParaRPr sz="1600">
              <a:latin typeface="Arial MT"/>
              <a:cs typeface="Arial MT"/>
            </a:endParaRPr>
          </a:p>
        </p:txBody>
      </p:sp>
      <p:pic>
        <p:nvPicPr>
          <p:cNvPr id="4" name="object 4"/>
          <p:cNvPicPr/>
          <p:nvPr/>
        </p:nvPicPr>
        <p:blipFill>
          <a:blip r:embed="rId2" cstate="print"/>
          <a:stretch>
            <a:fillRect/>
          </a:stretch>
        </p:blipFill>
        <p:spPr>
          <a:xfrm>
            <a:off x="1737200" y="4264249"/>
            <a:ext cx="3945632" cy="1348499"/>
          </a:xfrm>
          <a:prstGeom prst="rect">
            <a:avLst/>
          </a:prstGeom>
        </p:spPr>
      </p:pic>
    </p:spTree>
    <p:extLst>
      <p:ext uri="{BB962C8B-B14F-4D97-AF65-F5344CB8AC3E}">
        <p14:creationId xmlns:p14="http://schemas.microsoft.com/office/powerpoint/2010/main" val="2991860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6767" y="623639"/>
            <a:ext cx="3817620" cy="591551"/>
          </a:xfrm>
          <a:prstGeom prst="rect">
            <a:avLst/>
          </a:prstGeom>
        </p:spPr>
        <p:txBody>
          <a:bodyPr vert="horz" wrap="square" lIns="0" tIns="16933" rIns="0" bIns="0" rtlCol="0" anchor="ctr">
            <a:spAutoFit/>
          </a:bodyPr>
          <a:lstStyle/>
          <a:p>
            <a:pPr marL="16933">
              <a:spcBef>
                <a:spcPts val="133"/>
              </a:spcBef>
            </a:pPr>
            <a:r>
              <a:rPr sz="3733" spc="-13" dirty="0"/>
              <a:t>Stateless</a:t>
            </a:r>
            <a:r>
              <a:rPr sz="3733" spc="-113" dirty="0"/>
              <a:t> </a:t>
            </a:r>
            <a:r>
              <a:rPr sz="3733" spc="-7" dirty="0"/>
              <a:t>Widgets</a:t>
            </a:r>
            <a:endParaRPr sz="3733"/>
          </a:p>
        </p:txBody>
      </p:sp>
      <p:sp>
        <p:nvSpPr>
          <p:cNvPr id="3" name="object 3"/>
          <p:cNvSpPr txBox="1"/>
          <p:nvPr/>
        </p:nvSpPr>
        <p:spPr>
          <a:xfrm>
            <a:off x="3688457" y="3352198"/>
            <a:ext cx="4643120" cy="1355798"/>
          </a:xfrm>
          <a:prstGeom prst="rect">
            <a:avLst/>
          </a:prstGeom>
        </p:spPr>
        <p:txBody>
          <a:bodyPr vert="horz" wrap="square" lIns="0" tIns="62653" rIns="0" bIns="0" rtlCol="0">
            <a:spAutoFit/>
          </a:bodyPr>
          <a:lstStyle/>
          <a:p>
            <a:pPr marL="464808" indent="-448722">
              <a:spcBef>
                <a:spcPts val="493"/>
              </a:spcBef>
              <a:buChar char="●"/>
              <a:tabLst>
                <a:tab pos="463962" algn="l"/>
                <a:tab pos="465655" algn="l"/>
              </a:tabLst>
            </a:pPr>
            <a:r>
              <a:rPr sz="1867" spc="-7" dirty="0">
                <a:solidFill>
                  <a:srgbClr val="ADADAD"/>
                </a:solidFill>
                <a:latin typeface="Arial MT"/>
                <a:cs typeface="Arial MT"/>
              </a:rPr>
              <a:t>Have</a:t>
            </a:r>
            <a:r>
              <a:rPr sz="1867" spc="-40" dirty="0">
                <a:solidFill>
                  <a:srgbClr val="ADADAD"/>
                </a:solidFill>
                <a:latin typeface="Arial MT"/>
                <a:cs typeface="Arial MT"/>
              </a:rPr>
              <a:t> </a:t>
            </a:r>
            <a:r>
              <a:rPr sz="1867" spc="-7" dirty="0">
                <a:solidFill>
                  <a:srgbClr val="ADADAD"/>
                </a:solidFill>
                <a:latin typeface="Arial MT"/>
                <a:cs typeface="Arial MT"/>
              </a:rPr>
              <a:t>no</a:t>
            </a:r>
            <a:r>
              <a:rPr sz="1867" spc="-33" dirty="0">
                <a:solidFill>
                  <a:srgbClr val="ADADAD"/>
                </a:solidFill>
                <a:latin typeface="Arial MT"/>
                <a:cs typeface="Arial MT"/>
              </a:rPr>
              <a:t> </a:t>
            </a:r>
            <a:r>
              <a:rPr sz="1867" dirty="0">
                <a:solidFill>
                  <a:srgbClr val="ADADAD"/>
                </a:solidFill>
                <a:latin typeface="Arial MT"/>
                <a:cs typeface="Arial MT"/>
              </a:rPr>
              <a:t>state</a:t>
            </a:r>
            <a:r>
              <a:rPr sz="1867" spc="-33" dirty="0">
                <a:solidFill>
                  <a:srgbClr val="ADADAD"/>
                </a:solidFill>
                <a:latin typeface="Arial MT"/>
                <a:cs typeface="Arial MT"/>
              </a:rPr>
              <a:t> </a:t>
            </a:r>
            <a:r>
              <a:rPr sz="1867" dirty="0">
                <a:solidFill>
                  <a:srgbClr val="ADADAD"/>
                </a:solidFill>
                <a:latin typeface="Arial MT"/>
                <a:cs typeface="Arial MT"/>
              </a:rPr>
              <a:t>(duh)</a:t>
            </a:r>
            <a:endParaRPr sz="1867" dirty="0">
              <a:latin typeface="Arial MT"/>
              <a:cs typeface="Arial MT"/>
            </a:endParaRPr>
          </a:p>
          <a:p>
            <a:pPr marL="464808" indent="-448722">
              <a:spcBef>
                <a:spcPts val="360"/>
              </a:spcBef>
              <a:buChar char="●"/>
              <a:tabLst>
                <a:tab pos="463962" algn="l"/>
                <a:tab pos="465655" algn="l"/>
              </a:tabLst>
            </a:pPr>
            <a:r>
              <a:rPr sz="1867" spc="-7" dirty="0">
                <a:solidFill>
                  <a:srgbClr val="ADADAD"/>
                </a:solidFill>
                <a:latin typeface="Arial MT"/>
                <a:cs typeface="Arial MT"/>
              </a:rPr>
              <a:t>Immutable</a:t>
            </a:r>
            <a:r>
              <a:rPr sz="1867" spc="-27" dirty="0">
                <a:solidFill>
                  <a:srgbClr val="ADADAD"/>
                </a:solidFill>
                <a:latin typeface="Arial MT"/>
                <a:cs typeface="Arial MT"/>
              </a:rPr>
              <a:t> </a:t>
            </a:r>
            <a:r>
              <a:rPr sz="1867" dirty="0">
                <a:solidFill>
                  <a:srgbClr val="ADADAD"/>
                </a:solidFill>
                <a:latin typeface="Arial MT"/>
                <a:cs typeface="Arial MT"/>
              </a:rPr>
              <a:t>-&gt;</a:t>
            </a:r>
            <a:r>
              <a:rPr sz="1867" spc="-20" dirty="0">
                <a:solidFill>
                  <a:srgbClr val="ADADAD"/>
                </a:solidFill>
                <a:latin typeface="Arial MT"/>
                <a:cs typeface="Arial MT"/>
              </a:rPr>
              <a:t> </a:t>
            </a:r>
            <a:r>
              <a:rPr sz="1867" spc="-7" dirty="0">
                <a:solidFill>
                  <a:srgbClr val="ADADAD"/>
                </a:solidFill>
                <a:latin typeface="Arial MT"/>
                <a:cs typeface="Arial MT"/>
              </a:rPr>
              <a:t>all</a:t>
            </a:r>
            <a:r>
              <a:rPr sz="1867" spc="-20" dirty="0">
                <a:solidFill>
                  <a:srgbClr val="ADADAD"/>
                </a:solidFill>
                <a:latin typeface="Arial MT"/>
                <a:cs typeface="Arial MT"/>
              </a:rPr>
              <a:t> </a:t>
            </a:r>
            <a:r>
              <a:rPr sz="1867" spc="-7" dirty="0">
                <a:solidFill>
                  <a:srgbClr val="ADADAD"/>
                </a:solidFill>
                <a:latin typeface="Arial MT"/>
                <a:cs typeface="Arial MT"/>
              </a:rPr>
              <a:t>instance</a:t>
            </a:r>
            <a:r>
              <a:rPr sz="1867" spc="-27" dirty="0">
                <a:solidFill>
                  <a:srgbClr val="ADADAD"/>
                </a:solidFill>
                <a:latin typeface="Arial MT"/>
                <a:cs typeface="Arial MT"/>
              </a:rPr>
              <a:t> </a:t>
            </a:r>
            <a:r>
              <a:rPr sz="1867" spc="-7" dirty="0">
                <a:solidFill>
                  <a:srgbClr val="ADADAD"/>
                </a:solidFill>
                <a:latin typeface="Arial MT"/>
                <a:cs typeface="Arial MT"/>
              </a:rPr>
              <a:t>fields</a:t>
            </a:r>
            <a:r>
              <a:rPr sz="1867" spc="-20" dirty="0">
                <a:solidFill>
                  <a:srgbClr val="ADADAD"/>
                </a:solidFill>
                <a:latin typeface="Arial MT"/>
                <a:cs typeface="Arial MT"/>
              </a:rPr>
              <a:t> </a:t>
            </a:r>
            <a:r>
              <a:rPr sz="1867" spc="-7" dirty="0">
                <a:solidFill>
                  <a:srgbClr val="ADADAD"/>
                </a:solidFill>
                <a:latin typeface="Arial MT"/>
                <a:cs typeface="Arial MT"/>
              </a:rPr>
              <a:t>are</a:t>
            </a:r>
            <a:r>
              <a:rPr sz="1867" spc="-20" dirty="0">
                <a:solidFill>
                  <a:srgbClr val="ADADAD"/>
                </a:solidFill>
                <a:latin typeface="Arial MT"/>
                <a:cs typeface="Arial MT"/>
              </a:rPr>
              <a:t> </a:t>
            </a:r>
            <a:r>
              <a:rPr sz="1867" spc="-7" dirty="0">
                <a:solidFill>
                  <a:srgbClr val="ADADAD"/>
                </a:solidFill>
                <a:latin typeface="Arial MT"/>
                <a:cs typeface="Arial MT"/>
              </a:rPr>
              <a:t>final</a:t>
            </a:r>
            <a:endParaRPr sz="1867" dirty="0">
              <a:latin typeface="Arial MT"/>
              <a:cs typeface="Arial MT"/>
            </a:endParaRPr>
          </a:p>
          <a:p>
            <a:pPr marL="464808" marR="245527" indent="-448722">
              <a:lnSpc>
                <a:spcPct val="116100"/>
              </a:lnSpc>
              <a:buChar char="●"/>
              <a:tabLst>
                <a:tab pos="463962" algn="l"/>
                <a:tab pos="465655" algn="l"/>
              </a:tabLst>
            </a:pPr>
            <a:r>
              <a:rPr sz="1867" spc="-7" dirty="0">
                <a:solidFill>
                  <a:srgbClr val="ADADAD"/>
                </a:solidFill>
                <a:latin typeface="Arial MT"/>
                <a:cs typeface="Arial MT"/>
              </a:rPr>
              <a:t>For displaying </a:t>
            </a:r>
            <a:r>
              <a:rPr sz="1867" dirty="0">
                <a:solidFill>
                  <a:srgbClr val="ADADAD"/>
                </a:solidFill>
                <a:latin typeface="Arial MT"/>
                <a:cs typeface="Arial MT"/>
              </a:rPr>
              <a:t>something </a:t>
            </a:r>
            <a:r>
              <a:rPr sz="1867" spc="-7" dirty="0">
                <a:solidFill>
                  <a:srgbClr val="ADADAD"/>
                </a:solidFill>
                <a:latin typeface="Arial MT"/>
                <a:cs typeface="Arial MT"/>
              </a:rPr>
              <a:t>that doesn’t </a:t>
            </a:r>
            <a:r>
              <a:rPr sz="1867" spc="-500" dirty="0">
                <a:solidFill>
                  <a:srgbClr val="ADADAD"/>
                </a:solidFill>
                <a:latin typeface="Arial MT"/>
                <a:cs typeface="Arial MT"/>
              </a:rPr>
              <a:t> </a:t>
            </a:r>
            <a:r>
              <a:rPr sz="1867" dirty="0">
                <a:solidFill>
                  <a:srgbClr val="ADADAD"/>
                </a:solidFill>
                <a:latin typeface="Arial MT"/>
                <a:cs typeface="Arial MT"/>
              </a:rPr>
              <a:t>change</a:t>
            </a:r>
            <a:r>
              <a:rPr sz="1867" spc="-20" dirty="0">
                <a:solidFill>
                  <a:srgbClr val="ADADAD"/>
                </a:solidFill>
                <a:latin typeface="Arial MT"/>
                <a:cs typeface="Arial MT"/>
              </a:rPr>
              <a:t> </a:t>
            </a:r>
            <a:r>
              <a:rPr sz="1867" spc="-7" dirty="0">
                <a:solidFill>
                  <a:srgbClr val="ADADAD"/>
                </a:solidFill>
                <a:latin typeface="Arial MT"/>
                <a:cs typeface="Arial MT"/>
              </a:rPr>
              <a:t>once</a:t>
            </a:r>
            <a:r>
              <a:rPr sz="1867" spc="-20" dirty="0">
                <a:solidFill>
                  <a:srgbClr val="ADADAD"/>
                </a:solidFill>
                <a:latin typeface="Arial MT"/>
                <a:cs typeface="Arial MT"/>
              </a:rPr>
              <a:t> </a:t>
            </a:r>
            <a:r>
              <a:rPr sz="1867" spc="-7" dirty="0">
                <a:solidFill>
                  <a:srgbClr val="ADADAD"/>
                </a:solidFill>
                <a:latin typeface="Arial MT"/>
                <a:cs typeface="Arial MT"/>
              </a:rPr>
              <a:t>it</a:t>
            </a:r>
            <a:r>
              <a:rPr sz="1867" spc="-13" dirty="0">
                <a:solidFill>
                  <a:srgbClr val="ADADAD"/>
                </a:solidFill>
                <a:latin typeface="Arial MT"/>
                <a:cs typeface="Arial MT"/>
              </a:rPr>
              <a:t> </a:t>
            </a:r>
            <a:r>
              <a:rPr sz="1867" spc="-7" dirty="0">
                <a:solidFill>
                  <a:srgbClr val="ADADAD"/>
                </a:solidFill>
                <a:latin typeface="Arial MT"/>
                <a:cs typeface="Arial MT"/>
              </a:rPr>
              <a:t>has</a:t>
            </a:r>
            <a:r>
              <a:rPr sz="1867" spc="-20" dirty="0">
                <a:solidFill>
                  <a:srgbClr val="ADADAD"/>
                </a:solidFill>
                <a:latin typeface="Arial MT"/>
                <a:cs typeface="Arial MT"/>
              </a:rPr>
              <a:t> </a:t>
            </a:r>
            <a:r>
              <a:rPr sz="1867" spc="-7" dirty="0">
                <a:solidFill>
                  <a:srgbClr val="ADADAD"/>
                </a:solidFill>
                <a:latin typeface="Arial MT"/>
                <a:cs typeface="Arial MT"/>
              </a:rPr>
              <a:t>been</a:t>
            </a:r>
            <a:r>
              <a:rPr sz="1867" spc="-20" dirty="0">
                <a:solidFill>
                  <a:srgbClr val="ADADAD"/>
                </a:solidFill>
                <a:latin typeface="Arial MT"/>
                <a:cs typeface="Arial MT"/>
              </a:rPr>
              <a:t> </a:t>
            </a:r>
            <a:r>
              <a:rPr sz="1867" spc="-7" dirty="0">
                <a:solidFill>
                  <a:srgbClr val="ADADAD"/>
                </a:solidFill>
                <a:latin typeface="Arial MT"/>
                <a:cs typeface="Arial MT"/>
              </a:rPr>
              <a:t>initialized</a:t>
            </a:r>
            <a:endParaRPr sz="1867" dirty="0">
              <a:latin typeface="Arial MT"/>
              <a:cs typeface="Arial MT"/>
            </a:endParaRPr>
          </a:p>
        </p:txBody>
      </p:sp>
      <p:pic>
        <p:nvPicPr>
          <p:cNvPr id="4" name="object 4"/>
          <p:cNvPicPr/>
          <p:nvPr/>
        </p:nvPicPr>
        <p:blipFill>
          <a:blip r:embed="rId2" cstate="print"/>
          <a:stretch>
            <a:fillRect/>
          </a:stretch>
        </p:blipFill>
        <p:spPr>
          <a:xfrm>
            <a:off x="3429401" y="1536634"/>
            <a:ext cx="5333199" cy="1539977"/>
          </a:xfrm>
          <a:prstGeom prst="rect">
            <a:avLst/>
          </a:prstGeom>
        </p:spPr>
      </p:pic>
    </p:spTree>
    <p:extLst>
      <p:ext uri="{BB962C8B-B14F-4D97-AF65-F5344CB8AC3E}">
        <p14:creationId xmlns:p14="http://schemas.microsoft.com/office/powerpoint/2010/main" val="904452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0934" y="638273"/>
            <a:ext cx="3475567" cy="591551"/>
          </a:xfrm>
          <a:prstGeom prst="rect">
            <a:avLst/>
          </a:prstGeom>
        </p:spPr>
        <p:txBody>
          <a:bodyPr vert="horz" wrap="square" lIns="0" tIns="16933" rIns="0" bIns="0" rtlCol="0" anchor="ctr">
            <a:spAutoFit/>
          </a:bodyPr>
          <a:lstStyle/>
          <a:p>
            <a:pPr marL="16933">
              <a:spcBef>
                <a:spcPts val="133"/>
              </a:spcBef>
            </a:pPr>
            <a:r>
              <a:rPr sz="3733" spc="-13" dirty="0"/>
              <a:t>Stateful</a:t>
            </a:r>
            <a:r>
              <a:rPr sz="3733" spc="-120" dirty="0"/>
              <a:t> </a:t>
            </a:r>
            <a:r>
              <a:rPr sz="3733" spc="-7" dirty="0"/>
              <a:t>Widgets</a:t>
            </a:r>
            <a:endParaRPr sz="3733"/>
          </a:p>
        </p:txBody>
      </p:sp>
      <p:sp>
        <p:nvSpPr>
          <p:cNvPr id="3" name="object 3"/>
          <p:cNvSpPr txBox="1"/>
          <p:nvPr/>
        </p:nvSpPr>
        <p:spPr>
          <a:xfrm>
            <a:off x="5722624" y="1474498"/>
            <a:ext cx="5626947" cy="2361010"/>
          </a:xfrm>
          <a:prstGeom prst="rect">
            <a:avLst/>
          </a:prstGeom>
        </p:spPr>
        <p:txBody>
          <a:bodyPr vert="horz" wrap="square" lIns="0" tIns="62653" rIns="0" bIns="0" rtlCol="0">
            <a:spAutoFit/>
          </a:bodyPr>
          <a:lstStyle/>
          <a:p>
            <a:pPr marL="464808" indent="-448722">
              <a:spcBef>
                <a:spcPts val="493"/>
              </a:spcBef>
              <a:buChar char="●"/>
              <a:tabLst>
                <a:tab pos="463962" algn="l"/>
                <a:tab pos="465655" algn="l"/>
              </a:tabLst>
            </a:pPr>
            <a:r>
              <a:rPr sz="1867" spc="-7" dirty="0">
                <a:solidFill>
                  <a:srgbClr val="ADADAD"/>
                </a:solidFill>
                <a:latin typeface="Arial MT"/>
                <a:cs typeface="Arial MT"/>
              </a:rPr>
              <a:t>Have</a:t>
            </a:r>
            <a:r>
              <a:rPr sz="1867" spc="-40" dirty="0">
                <a:solidFill>
                  <a:srgbClr val="ADADAD"/>
                </a:solidFill>
                <a:latin typeface="Arial MT"/>
                <a:cs typeface="Arial MT"/>
              </a:rPr>
              <a:t> </a:t>
            </a:r>
            <a:r>
              <a:rPr sz="1867" dirty="0">
                <a:solidFill>
                  <a:srgbClr val="ADADAD"/>
                </a:solidFill>
                <a:latin typeface="Arial MT"/>
                <a:cs typeface="Arial MT"/>
              </a:rPr>
              <a:t>a</a:t>
            </a:r>
            <a:r>
              <a:rPr sz="1867" spc="-40" dirty="0">
                <a:solidFill>
                  <a:srgbClr val="ADADAD"/>
                </a:solidFill>
                <a:latin typeface="Arial MT"/>
                <a:cs typeface="Arial MT"/>
              </a:rPr>
              <a:t> </a:t>
            </a:r>
            <a:r>
              <a:rPr sz="1867" dirty="0">
                <a:solidFill>
                  <a:srgbClr val="ADADAD"/>
                </a:solidFill>
                <a:latin typeface="Arial MT"/>
                <a:cs typeface="Arial MT"/>
              </a:rPr>
              <a:t>state</a:t>
            </a:r>
            <a:r>
              <a:rPr sz="1867" spc="-33" dirty="0">
                <a:solidFill>
                  <a:srgbClr val="ADADAD"/>
                </a:solidFill>
                <a:latin typeface="Arial MT"/>
                <a:cs typeface="Arial MT"/>
              </a:rPr>
              <a:t> </a:t>
            </a:r>
            <a:r>
              <a:rPr sz="1867" dirty="0">
                <a:solidFill>
                  <a:srgbClr val="ADADAD"/>
                </a:solidFill>
                <a:latin typeface="Arial MT"/>
                <a:cs typeface="Arial MT"/>
              </a:rPr>
              <a:t>(duh)</a:t>
            </a:r>
            <a:endParaRPr sz="1867">
              <a:latin typeface="Arial MT"/>
              <a:cs typeface="Arial MT"/>
            </a:endParaRPr>
          </a:p>
          <a:p>
            <a:pPr marL="464808" marR="6773" indent="-448722">
              <a:lnSpc>
                <a:spcPct val="116100"/>
              </a:lnSpc>
              <a:buChar char="●"/>
              <a:tabLst>
                <a:tab pos="463962" algn="l"/>
                <a:tab pos="465655" algn="l"/>
              </a:tabLst>
            </a:pPr>
            <a:r>
              <a:rPr sz="1867" spc="-7" dirty="0">
                <a:solidFill>
                  <a:srgbClr val="ADADAD"/>
                </a:solidFill>
                <a:latin typeface="Arial MT"/>
                <a:cs typeface="Arial MT"/>
              </a:rPr>
              <a:t>The </a:t>
            </a:r>
            <a:r>
              <a:rPr sz="1867" dirty="0">
                <a:solidFill>
                  <a:srgbClr val="ADADAD"/>
                </a:solidFill>
                <a:latin typeface="Arial MT"/>
                <a:cs typeface="Arial MT"/>
              </a:rPr>
              <a:t>state </a:t>
            </a:r>
            <a:r>
              <a:rPr sz="1867" spc="-7" dirty="0">
                <a:solidFill>
                  <a:srgbClr val="ADADAD"/>
                </a:solidFill>
                <a:latin typeface="Arial MT"/>
                <a:cs typeface="Arial MT"/>
              </a:rPr>
              <a:t>has </a:t>
            </a:r>
            <a:r>
              <a:rPr sz="1867" dirty="0">
                <a:solidFill>
                  <a:srgbClr val="ADADAD"/>
                </a:solidFill>
                <a:latin typeface="Arial MT"/>
                <a:cs typeface="Arial MT"/>
              </a:rPr>
              <a:t>mutable </a:t>
            </a:r>
            <a:r>
              <a:rPr sz="1867" spc="-7" dirty="0">
                <a:solidFill>
                  <a:srgbClr val="ADADAD"/>
                </a:solidFill>
                <a:latin typeface="Arial MT"/>
                <a:cs typeface="Arial MT"/>
              </a:rPr>
              <a:t>instance fields that </a:t>
            </a:r>
            <a:r>
              <a:rPr sz="1867" dirty="0">
                <a:solidFill>
                  <a:srgbClr val="ADADAD"/>
                </a:solidFill>
                <a:latin typeface="Arial MT"/>
                <a:cs typeface="Arial MT"/>
              </a:rPr>
              <a:t>can </a:t>
            </a:r>
            <a:r>
              <a:rPr sz="1867" spc="-7" dirty="0">
                <a:solidFill>
                  <a:srgbClr val="ADADAD"/>
                </a:solidFill>
                <a:latin typeface="Arial MT"/>
                <a:cs typeface="Arial MT"/>
              </a:rPr>
              <a:t>be </a:t>
            </a:r>
            <a:r>
              <a:rPr sz="1867" spc="-500" dirty="0">
                <a:solidFill>
                  <a:srgbClr val="ADADAD"/>
                </a:solidFill>
                <a:latin typeface="Arial MT"/>
                <a:cs typeface="Arial MT"/>
              </a:rPr>
              <a:t> </a:t>
            </a:r>
            <a:r>
              <a:rPr sz="1867" dirty="0">
                <a:solidFill>
                  <a:srgbClr val="ADADAD"/>
                </a:solidFill>
                <a:latin typeface="Arial MT"/>
                <a:cs typeface="Arial MT"/>
              </a:rPr>
              <a:t>read</a:t>
            </a:r>
            <a:r>
              <a:rPr sz="1867" spc="-13" dirty="0">
                <a:solidFill>
                  <a:srgbClr val="ADADAD"/>
                </a:solidFill>
                <a:latin typeface="Arial MT"/>
                <a:cs typeface="Arial MT"/>
              </a:rPr>
              <a:t> </a:t>
            </a:r>
            <a:r>
              <a:rPr sz="1867" dirty="0">
                <a:solidFill>
                  <a:srgbClr val="ADADAD"/>
                </a:solidFill>
                <a:latin typeface="Arial MT"/>
                <a:cs typeface="Arial MT"/>
              </a:rPr>
              <a:t>synchronously</a:t>
            </a:r>
            <a:endParaRPr sz="1867">
              <a:latin typeface="Arial MT"/>
              <a:cs typeface="Arial MT"/>
            </a:endParaRPr>
          </a:p>
          <a:p>
            <a:pPr marL="464808" indent="-448722">
              <a:spcBef>
                <a:spcPts val="360"/>
              </a:spcBef>
              <a:buChar char="●"/>
              <a:tabLst>
                <a:tab pos="463962" algn="l"/>
                <a:tab pos="465655" algn="l"/>
              </a:tabLst>
            </a:pPr>
            <a:r>
              <a:rPr sz="1867" spc="-7" dirty="0">
                <a:solidFill>
                  <a:srgbClr val="ADADAD"/>
                </a:solidFill>
                <a:latin typeface="Arial MT"/>
                <a:cs typeface="Arial MT"/>
              </a:rPr>
              <a:t>Call</a:t>
            </a:r>
            <a:r>
              <a:rPr sz="1867" spc="-27" dirty="0">
                <a:solidFill>
                  <a:srgbClr val="ADADAD"/>
                </a:solidFill>
                <a:latin typeface="Arial MT"/>
                <a:cs typeface="Arial MT"/>
              </a:rPr>
              <a:t> </a:t>
            </a:r>
            <a:r>
              <a:rPr sz="1867" dirty="0">
                <a:solidFill>
                  <a:srgbClr val="ADADAD"/>
                </a:solidFill>
                <a:latin typeface="Arial MT"/>
                <a:cs typeface="Arial MT"/>
              </a:rPr>
              <a:t>setState()</a:t>
            </a:r>
            <a:r>
              <a:rPr sz="1867" spc="-20" dirty="0">
                <a:solidFill>
                  <a:srgbClr val="ADADAD"/>
                </a:solidFill>
                <a:latin typeface="Arial MT"/>
                <a:cs typeface="Arial MT"/>
              </a:rPr>
              <a:t> </a:t>
            </a:r>
            <a:r>
              <a:rPr sz="1867" dirty="0">
                <a:solidFill>
                  <a:srgbClr val="ADADAD"/>
                </a:solidFill>
                <a:latin typeface="Arial MT"/>
                <a:cs typeface="Arial MT"/>
              </a:rPr>
              <a:t>method</a:t>
            </a:r>
            <a:r>
              <a:rPr sz="1867" spc="-20" dirty="0">
                <a:solidFill>
                  <a:srgbClr val="ADADAD"/>
                </a:solidFill>
                <a:latin typeface="Arial MT"/>
                <a:cs typeface="Arial MT"/>
              </a:rPr>
              <a:t> </a:t>
            </a:r>
            <a:r>
              <a:rPr sz="1867" spc="-7" dirty="0">
                <a:solidFill>
                  <a:srgbClr val="ADADAD"/>
                </a:solidFill>
                <a:latin typeface="Arial MT"/>
                <a:cs typeface="Arial MT"/>
              </a:rPr>
              <a:t>for</a:t>
            </a:r>
            <a:r>
              <a:rPr sz="1867" spc="-20" dirty="0">
                <a:solidFill>
                  <a:srgbClr val="ADADAD"/>
                </a:solidFill>
                <a:latin typeface="Arial MT"/>
                <a:cs typeface="Arial MT"/>
              </a:rPr>
              <a:t> </a:t>
            </a:r>
            <a:r>
              <a:rPr sz="1867" spc="-7" dirty="0">
                <a:solidFill>
                  <a:srgbClr val="ADADAD"/>
                </a:solidFill>
                <a:latin typeface="Arial MT"/>
                <a:cs typeface="Arial MT"/>
              </a:rPr>
              <a:t>updating</a:t>
            </a:r>
            <a:r>
              <a:rPr sz="1867" spc="-27" dirty="0">
                <a:solidFill>
                  <a:srgbClr val="ADADAD"/>
                </a:solidFill>
                <a:latin typeface="Arial MT"/>
                <a:cs typeface="Arial MT"/>
              </a:rPr>
              <a:t> </a:t>
            </a:r>
            <a:r>
              <a:rPr sz="1867" spc="-7" dirty="0">
                <a:solidFill>
                  <a:srgbClr val="ADADAD"/>
                </a:solidFill>
                <a:latin typeface="Arial MT"/>
                <a:cs typeface="Arial MT"/>
              </a:rPr>
              <a:t>the</a:t>
            </a:r>
            <a:r>
              <a:rPr sz="1867" spc="-20" dirty="0">
                <a:solidFill>
                  <a:srgbClr val="ADADAD"/>
                </a:solidFill>
                <a:latin typeface="Arial MT"/>
                <a:cs typeface="Arial MT"/>
              </a:rPr>
              <a:t> </a:t>
            </a:r>
            <a:r>
              <a:rPr sz="1867" dirty="0">
                <a:solidFill>
                  <a:srgbClr val="ADADAD"/>
                </a:solidFill>
                <a:latin typeface="Arial MT"/>
                <a:cs typeface="Arial MT"/>
              </a:rPr>
              <a:t>state</a:t>
            </a:r>
            <a:endParaRPr sz="1867">
              <a:latin typeface="Arial MT"/>
              <a:cs typeface="Arial MT"/>
            </a:endParaRPr>
          </a:p>
          <a:p>
            <a:pPr marL="464808" marR="687476" indent="-448722">
              <a:lnSpc>
                <a:spcPct val="116100"/>
              </a:lnSpc>
              <a:buChar char="●"/>
              <a:tabLst>
                <a:tab pos="463962" algn="l"/>
                <a:tab pos="465655" algn="l"/>
              </a:tabLst>
            </a:pPr>
            <a:r>
              <a:rPr sz="1867" spc="-7" dirty="0">
                <a:solidFill>
                  <a:srgbClr val="ADADAD"/>
                </a:solidFill>
                <a:latin typeface="Arial MT"/>
                <a:cs typeface="Arial MT"/>
              </a:rPr>
              <a:t>Framework handles UI Widget updates </a:t>
            </a:r>
            <a:r>
              <a:rPr sz="1867" dirty="0">
                <a:solidFill>
                  <a:srgbClr val="ADADAD"/>
                </a:solidFill>
                <a:latin typeface="Arial MT"/>
                <a:cs typeface="Arial MT"/>
              </a:rPr>
              <a:t> </a:t>
            </a:r>
            <a:r>
              <a:rPr sz="1867" spc="-7" dirty="0">
                <a:solidFill>
                  <a:srgbClr val="ADADAD"/>
                </a:solidFill>
                <a:latin typeface="Arial MT"/>
                <a:cs typeface="Arial MT"/>
              </a:rPr>
              <a:t>intelligently</a:t>
            </a:r>
            <a:r>
              <a:rPr sz="1867" spc="-33" dirty="0">
                <a:solidFill>
                  <a:srgbClr val="ADADAD"/>
                </a:solidFill>
                <a:latin typeface="Arial MT"/>
                <a:cs typeface="Arial MT"/>
              </a:rPr>
              <a:t> </a:t>
            </a:r>
            <a:r>
              <a:rPr sz="1867" spc="-7" dirty="0">
                <a:solidFill>
                  <a:srgbClr val="ADADAD"/>
                </a:solidFill>
                <a:latin typeface="Arial MT"/>
                <a:cs typeface="Arial MT"/>
              </a:rPr>
              <a:t>and</a:t>
            </a:r>
            <a:r>
              <a:rPr sz="1867" spc="-33" dirty="0">
                <a:solidFill>
                  <a:srgbClr val="ADADAD"/>
                </a:solidFill>
                <a:latin typeface="Arial MT"/>
                <a:cs typeface="Arial MT"/>
              </a:rPr>
              <a:t> </a:t>
            </a:r>
            <a:r>
              <a:rPr sz="1867" spc="-7" dirty="0">
                <a:solidFill>
                  <a:srgbClr val="ADADAD"/>
                </a:solidFill>
                <a:latin typeface="Arial MT"/>
                <a:cs typeface="Arial MT"/>
              </a:rPr>
              <a:t>efficiently</a:t>
            </a:r>
            <a:r>
              <a:rPr sz="1867" spc="-27" dirty="0">
                <a:solidFill>
                  <a:srgbClr val="ADADAD"/>
                </a:solidFill>
                <a:latin typeface="Arial MT"/>
                <a:cs typeface="Arial MT"/>
              </a:rPr>
              <a:t> </a:t>
            </a:r>
            <a:r>
              <a:rPr sz="1867" spc="-7" dirty="0">
                <a:solidFill>
                  <a:srgbClr val="ADADAD"/>
                </a:solidFill>
                <a:latin typeface="Arial MT"/>
                <a:cs typeface="Arial MT"/>
              </a:rPr>
              <a:t>when</a:t>
            </a:r>
            <a:r>
              <a:rPr sz="1867" spc="-33" dirty="0">
                <a:solidFill>
                  <a:srgbClr val="ADADAD"/>
                </a:solidFill>
                <a:latin typeface="Arial MT"/>
                <a:cs typeface="Arial MT"/>
              </a:rPr>
              <a:t> </a:t>
            </a:r>
            <a:r>
              <a:rPr sz="1867" spc="-7" dirty="0">
                <a:solidFill>
                  <a:srgbClr val="ADADAD"/>
                </a:solidFill>
                <a:latin typeface="Arial MT"/>
                <a:cs typeface="Arial MT"/>
              </a:rPr>
              <a:t>necessary</a:t>
            </a:r>
            <a:endParaRPr sz="1867">
              <a:latin typeface="Arial MT"/>
              <a:cs typeface="Arial MT"/>
            </a:endParaRPr>
          </a:p>
          <a:p>
            <a:pPr marL="464808" indent="-448722">
              <a:spcBef>
                <a:spcPts val="360"/>
              </a:spcBef>
              <a:buChar char="●"/>
              <a:tabLst>
                <a:tab pos="463962" algn="l"/>
                <a:tab pos="465655" algn="l"/>
              </a:tabLst>
            </a:pPr>
            <a:r>
              <a:rPr sz="1867" spc="-7" dirty="0">
                <a:solidFill>
                  <a:srgbClr val="ADADAD"/>
                </a:solidFill>
                <a:latin typeface="Arial MT"/>
                <a:cs typeface="Arial MT"/>
              </a:rPr>
              <a:t>So</a:t>
            </a:r>
            <a:r>
              <a:rPr sz="1867" spc="-27" dirty="0">
                <a:solidFill>
                  <a:srgbClr val="ADADAD"/>
                </a:solidFill>
                <a:latin typeface="Arial MT"/>
                <a:cs typeface="Arial MT"/>
              </a:rPr>
              <a:t> </a:t>
            </a:r>
            <a:r>
              <a:rPr sz="1867" spc="-7" dirty="0">
                <a:solidFill>
                  <a:srgbClr val="ADADAD"/>
                </a:solidFill>
                <a:latin typeface="Arial MT"/>
                <a:cs typeface="Arial MT"/>
              </a:rPr>
              <a:t>basically,</a:t>
            </a:r>
            <a:r>
              <a:rPr sz="1867" spc="-20" dirty="0">
                <a:solidFill>
                  <a:srgbClr val="ADADAD"/>
                </a:solidFill>
                <a:latin typeface="Arial MT"/>
                <a:cs typeface="Arial MT"/>
              </a:rPr>
              <a:t> </a:t>
            </a:r>
            <a:r>
              <a:rPr sz="1867" dirty="0">
                <a:solidFill>
                  <a:srgbClr val="ADADAD"/>
                </a:solidFill>
                <a:latin typeface="Arial MT"/>
                <a:cs typeface="Arial MT"/>
              </a:rPr>
              <a:t>really</a:t>
            </a:r>
            <a:r>
              <a:rPr sz="1867" spc="-20" dirty="0">
                <a:solidFill>
                  <a:srgbClr val="ADADAD"/>
                </a:solidFill>
                <a:latin typeface="Arial MT"/>
                <a:cs typeface="Arial MT"/>
              </a:rPr>
              <a:t> </a:t>
            </a:r>
            <a:r>
              <a:rPr sz="1867" dirty="0">
                <a:solidFill>
                  <a:srgbClr val="ADADAD"/>
                </a:solidFill>
                <a:latin typeface="Arial MT"/>
                <a:cs typeface="Arial MT"/>
              </a:rPr>
              <a:t>similar</a:t>
            </a:r>
            <a:r>
              <a:rPr sz="1867" spc="-20" dirty="0">
                <a:solidFill>
                  <a:srgbClr val="ADADAD"/>
                </a:solidFill>
                <a:latin typeface="Arial MT"/>
                <a:cs typeface="Arial MT"/>
              </a:rPr>
              <a:t> </a:t>
            </a:r>
            <a:r>
              <a:rPr sz="1867" spc="-7" dirty="0">
                <a:solidFill>
                  <a:srgbClr val="ADADAD"/>
                </a:solidFill>
                <a:latin typeface="Arial MT"/>
                <a:cs typeface="Arial MT"/>
              </a:rPr>
              <a:t>to</a:t>
            </a:r>
            <a:r>
              <a:rPr sz="1867" spc="-27" dirty="0">
                <a:solidFill>
                  <a:srgbClr val="ADADAD"/>
                </a:solidFill>
                <a:latin typeface="Arial MT"/>
                <a:cs typeface="Arial MT"/>
              </a:rPr>
              <a:t> </a:t>
            </a:r>
            <a:r>
              <a:rPr sz="1867" spc="-7" dirty="0">
                <a:solidFill>
                  <a:srgbClr val="ADADAD"/>
                </a:solidFill>
                <a:latin typeface="Arial MT"/>
                <a:cs typeface="Arial MT"/>
              </a:rPr>
              <a:t>React</a:t>
            </a:r>
            <a:r>
              <a:rPr sz="1867" spc="-20" dirty="0">
                <a:solidFill>
                  <a:srgbClr val="ADADAD"/>
                </a:solidFill>
                <a:latin typeface="Arial MT"/>
                <a:cs typeface="Arial MT"/>
              </a:rPr>
              <a:t> </a:t>
            </a:r>
            <a:r>
              <a:rPr sz="1867" dirty="0">
                <a:solidFill>
                  <a:srgbClr val="ADADAD"/>
                </a:solidFill>
                <a:latin typeface="Arial MT"/>
                <a:cs typeface="Arial MT"/>
              </a:rPr>
              <a:t>concepts</a:t>
            </a:r>
            <a:endParaRPr sz="1867">
              <a:latin typeface="Arial MT"/>
              <a:cs typeface="Arial MT"/>
            </a:endParaRPr>
          </a:p>
        </p:txBody>
      </p:sp>
      <p:pic>
        <p:nvPicPr>
          <p:cNvPr id="4" name="object 4"/>
          <p:cNvPicPr/>
          <p:nvPr/>
        </p:nvPicPr>
        <p:blipFill>
          <a:blip r:embed="rId2" cstate="print"/>
          <a:stretch>
            <a:fillRect/>
          </a:stretch>
        </p:blipFill>
        <p:spPr>
          <a:xfrm>
            <a:off x="411833" y="891968"/>
            <a:ext cx="4686632" cy="5074065"/>
          </a:xfrm>
          <a:prstGeom prst="rect">
            <a:avLst/>
          </a:prstGeom>
        </p:spPr>
      </p:pic>
      <p:sp>
        <p:nvSpPr>
          <p:cNvPr id="5" name="object 5"/>
          <p:cNvSpPr txBox="1"/>
          <p:nvPr/>
        </p:nvSpPr>
        <p:spPr>
          <a:xfrm>
            <a:off x="1803916" y="2724805"/>
            <a:ext cx="1794933" cy="263320"/>
          </a:xfrm>
          <a:prstGeom prst="rect">
            <a:avLst/>
          </a:prstGeom>
        </p:spPr>
        <p:txBody>
          <a:bodyPr vert="horz" wrap="square" lIns="0" tIns="16933" rIns="0" bIns="0" rtlCol="0">
            <a:spAutoFit/>
          </a:bodyPr>
          <a:lstStyle/>
          <a:p>
            <a:pPr marL="16933">
              <a:spcBef>
                <a:spcPts val="133"/>
              </a:spcBef>
            </a:pPr>
            <a:r>
              <a:rPr sz="1600" dirty="0">
                <a:solidFill>
                  <a:srgbClr val="FFFFFF"/>
                </a:solidFill>
                <a:latin typeface="Arial MT"/>
                <a:cs typeface="Arial MT"/>
              </a:rPr>
              <a:t>(count</a:t>
            </a:r>
            <a:r>
              <a:rPr sz="1600" spc="-40" dirty="0">
                <a:solidFill>
                  <a:srgbClr val="FFFFFF"/>
                </a:solidFill>
                <a:latin typeface="Arial MT"/>
                <a:cs typeface="Arial MT"/>
              </a:rPr>
              <a:t> </a:t>
            </a:r>
            <a:r>
              <a:rPr sz="1600" dirty="0">
                <a:solidFill>
                  <a:srgbClr val="FFFFFF"/>
                </a:solidFill>
                <a:latin typeface="Arial MT"/>
                <a:cs typeface="Arial MT"/>
              </a:rPr>
              <a:t>=</a:t>
            </a:r>
            <a:r>
              <a:rPr sz="1600" spc="-40" dirty="0">
                <a:solidFill>
                  <a:srgbClr val="FFFFFF"/>
                </a:solidFill>
                <a:latin typeface="Arial MT"/>
                <a:cs typeface="Arial MT"/>
              </a:rPr>
              <a:t> </a:t>
            </a:r>
            <a:r>
              <a:rPr sz="1600" dirty="0">
                <a:solidFill>
                  <a:srgbClr val="FFFFFF"/>
                </a:solidFill>
                <a:latin typeface="Arial MT"/>
                <a:cs typeface="Arial MT"/>
              </a:rPr>
              <a:t>count</a:t>
            </a:r>
            <a:r>
              <a:rPr sz="1600" spc="-33" dirty="0">
                <a:solidFill>
                  <a:srgbClr val="FFFFFF"/>
                </a:solidFill>
                <a:latin typeface="Arial MT"/>
                <a:cs typeface="Arial MT"/>
              </a:rPr>
              <a:t> </a:t>
            </a:r>
            <a:r>
              <a:rPr sz="1600" dirty="0">
                <a:solidFill>
                  <a:srgbClr val="FFFFFF"/>
                </a:solidFill>
                <a:latin typeface="Arial MT"/>
                <a:cs typeface="Arial MT"/>
              </a:rPr>
              <a:t>+</a:t>
            </a:r>
            <a:r>
              <a:rPr sz="1600" spc="-40" dirty="0">
                <a:solidFill>
                  <a:srgbClr val="FFFFFF"/>
                </a:solidFill>
                <a:latin typeface="Arial MT"/>
                <a:cs typeface="Arial MT"/>
              </a:rPr>
              <a:t> </a:t>
            </a:r>
            <a:r>
              <a:rPr sz="1600" spc="-7" dirty="0">
                <a:solidFill>
                  <a:srgbClr val="FFFFFF"/>
                </a:solidFill>
                <a:latin typeface="Arial MT"/>
                <a:cs typeface="Arial MT"/>
              </a:rPr>
              <a:t>1;)</a:t>
            </a:r>
            <a:endParaRPr sz="1600">
              <a:latin typeface="Arial MT"/>
              <a:cs typeface="Arial MT"/>
            </a:endParaRPr>
          </a:p>
        </p:txBody>
      </p:sp>
    </p:spTree>
    <p:extLst>
      <p:ext uri="{BB962C8B-B14F-4D97-AF65-F5344CB8AC3E}">
        <p14:creationId xmlns:p14="http://schemas.microsoft.com/office/powerpoint/2010/main" val="263139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 </a:t>
            </a:r>
            <a:r>
              <a:rPr lang="en-US" dirty="0" smtClean="0">
                <a:effectLst/>
              </a:rPr>
              <a:t>Conclusion</a:t>
            </a:r>
            <a:endParaRPr lang="en-US" dirty="0"/>
          </a:p>
        </p:txBody>
      </p:sp>
      <p:sp>
        <p:nvSpPr>
          <p:cNvPr id="3" name="Content Placeholder 2"/>
          <p:cNvSpPr>
            <a:spLocks noGrp="1"/>
          </p:cNvSpPr>
          <p:nvPr>
            <p:ph idx="1"/>
          </p:nvPr>
        </p:nvSpPr>
        <p:spPr/>
        <p:txBody>
          <a:bodyPr/>
          <a:lstStyle/>
          <a:p>
            <a:r>
              <a:rPr lang="en-US" dirty="0">
                <a:effectLst/>
              </a:rPr>
              <a:t>Flutter framework does a great job by providing an excellent framework to build mobile applications in a truly platform independent way. By providing simplicity in the development process, high performance in the resulting mobile application, rich and relevant user interface for both Android and iOS platform, Flutter framework will surely enable a lot of new developers to develop high performance and feature-full mobile application in the near future.</a:t>
            </a:r>
            <a:endParaRPr lang="en-US" dirty="0"/>
          </a:p>
        </p:txBody>
      </p:sp>
    </p:spTree>
    <p:extLst>
      <p:ext uri="{BB962C8B-B14F-4D97-AF65-F5344CB8AC3E}">
        <p14:creationId xmlns:p14="http://schemas.microsoft.com/office/powerpoint/2010/main" val="11350493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327</TotalTime>
  <Words>543</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MT</vt:lpstr>
      <vt:lpstr>Calisto MT</vt:lpstr>
      <vt:lpstr>Times New Roman</vt:lpstr>
      <vt:lpstr>Trebuchet MS</vt:lpstr>
      <vt:lpstr>Wingdings 2</vt:lpstr>
      <vt:lpstr>Slate</vt:lpstr>
      <vt:lpstr>Introduction to Flutter</vt:lpstr>
      <vt:lpstr>Flutter</vt:lpstr>
      <vt:lpstr>Why Flutter for App Development</vt:lpstr>
      <vt:lpstr>Why Flutter for App Development</vt:lpstr>
      <vt:lpstr>Apps that are build using Flutter</vt:lpstr>
      <vt:lpstr>Feature of Flutter</vt:lpstr>
      <vt:lpstr>PowerPoint Presentation</vt:lpstr>
      <vt:lpstr>Widgets</vt:lpstr>
      <vt:lpstr>Stateless Widgets</vt:lpstr>
      <vt:lpstr>Stateful Widgets</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Flutter</dc:title>
  <dc:creator/>
  <cp:lastModifiedBy>student</cp:lastModifiedBy>
  <cp:revision>31</cp:revision>
  <dcterms:created xsi:type="dcterms:W3CDTF">2022-03-12T10:51:58Z</dcterms:created>
  <dcterms:modified xsi:type="dcterms:W3CDTF">2023-09-12T09:12:16Z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03521C7FDB854D178FF789EAAAF46763</vt:lpwstr>
  </property>
  <property fmtid="{D5CDD505-2E9C-101B-9397-08002B2CF9AE}" pid="3" name="KSOProductBuildVer">
    <vt:lpwstr>1033-11.2.0.11029</vt:lpwstr>
  </property>
</Properties>
</file>