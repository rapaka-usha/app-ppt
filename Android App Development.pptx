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56" r:id="rId2"/>
    <p:sldId id="257" r:id="rId3"/>
    <p:sldId id="260" r:id="rId4"/>
    <p:sldId id="261" r:id="rId5"/>
    <p:sldId id="258" r:id="rId6"/>
    <p:sldId id="259" r:id="rId7"/>
    <p:sldId id="262" r:id="rId8"/>
    <p:sldId id="264" r:id="rId9"/>
    <p:sldId id="265" r:id="rId10"/>
    <p:sldId id="266" r:id="rId11"/>
    <p:sldId id="267" r:id="rId12"/>
    <p:sldId id="268" r:id="rId13"/>
    <p:sldId id="269" r:id="rId14"/>
    <p:sldId id="270" r:id="rId15"/>
    <p:sldId id="27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979B4345-CE7A-475C-9433-19A7B32F04CE}" type="datetimeFigureOut">
              <a:rPr lang="en-US" smtClean="0"/>
              <a:t>9/12/2023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7144AFC8-B6DD-41A8-BA1C-4D3F3F6FAC30}"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79B4345-CE7A-475C-9433-19A7B32F04CE}" type="datetimeFigureOut">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44AFC8-B6DD-41A8-BA1C-4D3F3F6FAC3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79B4345-CE7A-475C-9433-19A7B32F04CE}" type="datetimeFigureOut">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44AFC8-B6DD-41A8-BA1C-4D3F3F6FAC30}"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79B4345-CE7A-475C-9433-19A7B32F04CE}" type="datetimeFigureOut">
              <a:rPr lang="en-US" smtClean="0"/>
              <a:t>9/12/2023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44AFC8-B6DD-41A8-BA1C-4D3F3F6FAC3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979B4345-CE7A-475C-9433-19A7B32F04CE}" type="datetimeFigureOut">
              <a:rPr lang="en-US" smtClean="0"/>
              <a:t>9/12/2023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44AFC8-B6DD-41A8-BA1C-4D3F3F6FAC3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79B4345-CE7A-475C-9433-19A7B32F04CE}" type="datetimeFigureOut">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44AFC8-B6DD-41A8-BA1C-4D3F3F6FAC3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9B4345-CE7A-475C-9433-19A7B32F04CE}" type="datetimeFigureOut">
              <a:rPr lang="en-US" smtClean="0"/>
              <a:t>9/12/2023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44AFC8-B6DD-41A8-BA1C-4D3F3F6FAC3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79B4345-CE7A-475C-9433-19A7B32F04CE}" type="datetimeFigureOut">
              <a:rPr lang="en-US" smtClean="0"/>
              <a:t>9/12/2023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44AFC8-B6DD-41A8-BA1C-4D3F3F6FAC3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79B4345-CE7A-475C-9433-19A7B32F04CE}" type="datetimeFigureOut">
              <a:rPr lang="en-US" smtClean="0"/>
              <a:t>9/12/2023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7144AFC8-B6DD-41A8-BA1C-4D3F3F6FAC30}"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79B4345-CE7A-475C-9433-19A7B32F04CE}" type="datetimeFigureOut">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44AFC8-B6DD-41A8-BA1C-4D3F3F6FAC3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79B4345-CE7A-475C-9433-19A7B32F04CE}" type="datetimeFigureOut">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44AFC8-B6DD-41A8-BA1C-4D3F3F6FAC3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979B4345-CE7A-475C-9433-19A7B32F04CE}" type="datetimeFigureOut">
              <a:rPr lang="en-US" smtClean="0"/>
              <a:t>9/12/2023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7144AFC8-B6DD-41A8-BA1C-4D3F3F6FAC30}"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App Development</a:t>
            </a:r>
            <a:endParaRPr lang="en-US" dirty="0"/>
          </a:p>
        </p:txBody>
      </p:sp>
      <p:sp>
        <p:nvSpPr>
          <p:cNvPr id="3" name="Subtitle 2"/>
          <p:cNvSpPr>
            <a:spLocks noGrp="1"/>
          </p:cNvSpPr>
          <p:nvPr>
            <p:ph type="subTitle" idx="1"/>
          </p:nvPr>
        </p:nvSpPr>
        <p:spPr/>
        <p:txBody>
          <a:bodyPr/>
          <a:lstStyle/>
          <a:p>
            <a:r>
              <a:rPr lang="en-US" dirty="0" smtClean="0"/>
              <a:t>Android/Flutter/Flask</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Android</a:t>
            </a:r>
            <a:endParaRPr lang="en-US" dirty="0"/>
          </a:p>
        </p:txBody>
      </p:sp>
      <p:sp>
        <p:nvSpPr>
          <p:cNvPr id="3" name="Content Placeholder 2"/>
          <p:cNvSpPr>
            <a:spLocks noGrp="1"/>
          </p:cNvSpPr>
          <p:nvPr>
            <p:ph idx="1"/>
          </p:nvPr>
        </p:nvSpPr>
        <p:spPr/>
        <p:txBody>
          <a:bodyPr>
            <a:normAutofit/>
          </a:bodyPr>
          <a:lstStyle/>
          <a:p>
            <a:r>
              <a:rPr lang="en-US" dirty="0" smtClean="0"/>
              <a:t>Android </a:t>
            </a:r>
            <a:r>
              <a:rPr lang="en-US" dirty="0"/>
              <a:t>is </a:t>
            </a:r>
            <a:r>
              <a:rPr lang="en-US" dirty="0" smtClean="0"/>
              <a:t>a software stack for mobile devices that includes an operating system, middleware and key applications.</a:t>
            </a:r>
          </a:p>
          <a:p>
            <a:r>
              <a:rPr lang="en-US" dirty="0" smtClean="0"/>
              <a:t>Android </a:t>
            </a:r>
            <a:r>
              <a:rPr lang="en-US" dirty="0"/>
              <a:t>was developed by the Open Handset Alliance, led by Google, and other companies</a:t>
            </a:r>
            <a:r>
              <a:rPr lang="en-US" dirty="0" smtClean="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Android application</a:t>
            </a:r>
            <a:endParaRPr lang="en-US" dirty="0"/>
          </a:p>
        </p:txBody>
      </p:sp>
      <p:sp>
        <p:nvSpPr>
          <p:cNvPr id="3" name="Content Placeholder 2"/>
          <p:cNvSpPr>
            <a:spLocks noGrp="1"/>
          </p:cNvSpPr>
          <p:nvPr>
            <p:ph idx="1"/>
          </p:nvPr>
        </p:nvSpPr>
        <p:spPr/>
        <p:txBody>
          <a:bodyPr/>
          <a:lstStyle/>
          <a:p>
            <a:r>
              <a:rPr lang="en-US" dirty="0" smtClean="0"/>
              <a:t>An android app is a software application running on the android platform. Because the android platform is built for mobile devices, a typical android app is designed for a smart phone, or a tablet PC running on the android OS.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Versions of Android</a:t>
            </a:r>
            <a:endParaRPr lang="en-US" dirty="0"/>
          </a:p>
        </p:txBody>
      </p:sp>
      <p:pic>
        <p:nvPicPr>
          <p:cNvPr id="2050" name="Picture 2"/>
          <p:cNvPicPr>
            <a:picLocks noChangeAspect="1" noChangeArrowheads="1"/>
          </p:cNvPicPr>
          <p:nvPr/>
        </p:nvPicPr>
        <p:blipFill>
          <a:blip r:embed="rId2"/>
          <a:srcRect/>
          <a:stretch>
            <a:fillRect/>
          </a:stretch>
        </p:blipFill>
        <p:spPr bwMode="auto">
          <a:xfrm>
            <a:off x="457200" y="1905000"/>
            <a:ext cx="8305800" cy="4267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Pre-requisites</a:t>
            </a:r>
            <a:endParaRPr lang="en-US" dirty="0"/>
          </a:p>
        </p:txBody>
      </p:sp>
      <p:sp>
        <p:nvSpPr>
          <p:cNvPr id="3" name="Content Placeholder 2"/>
          <p:cNvSpPr>
            <a:spLocks noGrp="1"/>
          </p:cNvSpPr>
          <p:nvPr>
            <p:ph idx="1"/>
          </p:nvPr>
        </p:nvSpPr>
        <p:spPr/>
        <p:txBody>
          <a:bodyPr>
            <a:normAutofit/>
          </a:bodyPr>
          <a:lstStyle/>
          <a:p>
            <a:r>
              <a:rPr lang="en-US" dirty="0"/>
              <a:t>Android programming is based on Java programming language so if you have basic understanding on Java programming then it will be a fun to learn Android application development</a:t>
            </a:r>
            <a:r>
              <a:rPr lang="en-US" dirty="0" smtClean="0"/>
              <a:t>.</a:t>
            </a:r>
          </a:p>
          <a:p>
            <a:r>
              <a:rPr lang="en-US" dirty="0" smtClean="0"/>
              <a:t>OOPS concepts like class,</a:t>
            </a:r>
            <a:r>
              <a:rPr lang="en-US" dirty="0" smtClean="0"/>
              <a:t> objects, </a:t>
            </a:r>
            <a:r>
              <a:rPr lang="en-US" dirty="0" smtClean="0"/>
              <a:t>interface, inheritance, overriding etc.</a:t>
            </a:r>
          </a:p>
          <a:p>
            <a:r>
              <a:rPr lang="en-US" dirty="0" smtClean="0"/>
              <a:t>Basics of any mark-up language like HTML or XML.</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Android Architecture</a:t>
            </a:r>
            <a:endParaRPr lang="en-US" dirty="0"/>
          </a:p>
        </p:txBody>
      </p:sp>
      <p:sp>
        <p:nvSpPr>
          <p:cNvPr id="3" name="Content Placeholder 2"/>
          <p:cNvSpPr>
            <a:spLocks noGrp="1"/>
          </p:cNvSpPr>
          <p:nvPr>
            <p:ph idx="1"/>
          </p:nvPr>
        </p:nvSpPr>
        <p:spPr>
          <a:xfrm>
            <a:off x="228600" y="1935480"/>
            <a:ext cx="4038600" cy="4541520"/>
          </a:xfrm>
        </p:spPr>
        <p:txBody>
          <a:bodyPr>
            <a:normAutofit/>
          </a:bodyPr>
          <a:lstStyle/>
          <a:p>
            <a:pPr marL="342900" indent="-342900">
              <a:buFont typeface="+mj-lt"/>
              <a:buAutoNum type="arabicParenR"/>
            </a:pPr>
            <a:r>
              <a:rPr lang="en-US" sz="1600" dirty="0" smtClean="0"/>
              <a:t>This provides a level of abstraction between the device hardware and it contains all the essential hardware drivers like </a:t>
            </a:r>
            <a:r>
              <a:rPr lang="en-US" sz="1600" dirty="0" smtClean="0"/>
              <a:t>camera</a:t>
            </a:r>
            <a:r>
              <a:rPr lang="en-US" sz="1600" dirty="0" smtClean="0"/>
              <a:t>, keypad, display etc</a:t>
            </a:r>
            <a:r>
              <a:rPr lang="en-US" sz="1600" dirty="0" smtClean="0"/>
              <a:t>.</a:t>
            </a:r>
          </a:p>
          <a:p>
            <a:pPr marL="342900" indent="-342900">
              <a:buFont typeface="+mj-lt"/>
              <a:buAutoNum type="arabicParenR"/>
            </a:pPr>
            <a:r>
              <a:rPr lang="en-US" sz="1600" dirty="0" smtClean="0"/>
              <a:t>There </a:t>
            </a:r>
            <a:r>
              <a:rPr lang="en-US" sz="1600" dirty="0" smtClean="0"/>
              <a:t>is a set of libraries including open-source Web browser engine </a:t>
            </a:r>
            <a:r>
              <a:rPr lang="en-US" sz="1600" dirty="0" err="1" smtClean="0"/>
              <a:t>WebKit</a:t>
            </a:r>
            <a:r>
              <a:rPr lang="en-US" sz="1600" dirty="0" smtClean="0"/>
              <a:t>, well known library </a:t>
            </a:r>
            <a:r>
              <a:rPr lang="en-US" sz="1600" dirty="0" err="1" smtClean="0"/>
              <a:t>libc</a:t>
            </a:r>
            <a:r>
              <a:rPr lang="en-US" sz="1600" dirty="0" smtClean="0"/>
              <a:t>.</a:t>
            </a:r>
          </a:p>
          <a:p>
            <a:pPr marL="342900" indent="-342900">
              <a:buFont typeface="+mj-lt"/>
              <a:buAutoNum type="arabicParenR"/>
            </a:pPr>
            <a:r>
              <a:rPr lang="en-US" sz="1600" b="1" dirty="0" err="1" smtClean="0"/>
              <a:t>Dalvik</a:t>
            </a:r>
            <a:r>
              <a:rPr lang="en-US" sz="1600" b="1" dirty="0" smtClean="0"/>
              <a:t> Virtual Machine</a:t>
            </a:r>
            <a:r>
              <a:rPr lang="en-US" sz="1600" dirty="0" smtClean="0"/>
              <a:t> which is a kind of Java Virtual Machine specially designed and optimized for Android</a:t>
            </a:r>
            <a:r>
              <a:rPr lang="en-US" sz="1600" dirty="0" smtClean="0"/>
              <a:t>.</a:t>
            </a:r>
          </a:p>
          <a:p>
            <a:pPr marL="342900" indent="-342900">
              <a:buFont typeface="+mj-lt"/>
              <a:buAutoNum type="arabicParenR"/>
            </a:pPr>
            <a:r>
              <a:rPr lang="en-US" sz="1600" dirty="0" smtClean="0"/>
              <a:t>The Application Framework layer provides many higher-level services to applications in the form of Java classes. </a:t>
            </a:r>
            <a:endParaRPr lang="en-US" sz="1600" dirty="0" smtClean="0"/>
          </a:p>
          <a:p>
            <a:pPr marL="342900" indent="-342900">
              <a:buFont typeface="+mj-lt"/>
              <a:buAutoNum type="arabicParenR"/>
            </a:pPr>
            <a:r>
              <a:rPr lang="en-US" sz="1600" dirty="0" smtClean="0"/>
              <a:t>All the applications are installed </a:t>
            </a:r>
            <a:r>
              <a:rPr lang="en-US" sz="1600" dirty="0" smtClean="0"/>
              <a:t>on this layer only. Examples of such applications are Contacts Books, Browser, Games etc.</a:t>
            </a:r>
            <a:endParaRPr lang="en-US" sz="1600" dirty="0" smtClean="0"/>
          </a:p>
          <a:p>
            <a:pPr marL="342900" indent="-342900">
              <a:buFont typeface="+mj-lt"/>
              <a:buAutoNum type="arabicParenR"/>
            </a:pPr>
            <a:endParaRPr lang="en-US" sz="1600" dirty="0" smtClean="0"/>
          </a:p>
          <a:p>
            <a:pPr marL="342900" indent="-342900">
              <a:buFont typeface="+mj-lt"/>
              <a:buAutoNum type="arabicParenR"/>
            </a:pPr>
            <a:endParaRPr lang="en-US" sz="1600" dirty="0"/>
          </a:p>
        </p:txBody>
      </p:sp>
      <p:pic>
        <p:nvPicPr>
          <p:cNvPr id="1026" name="Picture 2"/>
          <p:cNvPicPr>
            <a:picLocks noChangeAspect="1" noChangeArrowheads="1"/>
          </p:cNvPicPr>
          <p:nvPr/>
        </p:nvPicPr>
        <p:blipFill>
          <a:blip r:embed="rId2"/>
          <a:srcRect/>
          <a:stretch>
            <a:fillRect/>
          </a:stretch>
        </p:blipFill>
        <p:spPr bwMode="auto">
          <a:xfrm>
            <a:off x="4267200" y="1905000"/>
            <a:ext cx="4495799" cy="457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Components</a:t>
            </a:r>
            <a:endParaRPr lang="en-US" dirty="0"/>
          </a:p>
        </p:txBody>
      </p:sp>
      <p:sp>
        <p:nvSpPr>
          <p:cNvPr id="3" name="Content Placeholder 2"/>
          <p:cNvSpPr>
            <a:spLocks noGrp="1"/>
          </p:cNvSpPr>
          <p:nvPr>
            <p:ph idx="1"/>
          </p:nvPr>
        </p:nvSpPr>
        <p:spPr/>
        <p:txBody>
          <a:bodyPr/>
          <a:lstStyle/>
          <a:p>
            <a:r>
              <a:rPr lang="en-US" dirty="0" smtClean="0"/>
              <a:t>Application components are the essential building blocks of an Android application. These components are loosely coupled by the application manifest file </a:t>
            </a:r>
            <a:r>
              <a:rPr lang="en-US" i="1" dirty="0" smtClean="0"/>
              <a:t>AndroidManifest.xml</a:t>
            </a:r>
            <a:r>
              <a:rPr lang="en-US" dirty="0" smtClean="0"/>
              <a:t> that describes </a:t>
            </a:r>
            <a:r>
              <a:rPr lang="en-US" dirty="0" smtClean="0"/>
              <a:t>each component </a:t>
            </a:r>
            <a:r>
              <a:rPr lang="en-US" dirty="0" smtClean="0"/>
              <a:t>of the application and how they interact</a:t>
            </a:r>
            <a:r>
              <a:rPr lang="en-US" dirty="0" smtClean="0"/>
              <a: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Activities</a:t>
            </a:r>
            <a:endParaRPr lang="en-US" dirty="0"/>
          </a:p>
        </p:txBody>
      </p:sp>
      <p:sp>
        <p:nvSpPr>
          <p:cNvPr id="3" name="Content Placeholder 2"/>
          <p:cNvSpPr>
            <a:spLocks noGrp="1"/>
          </p:cNvSpPr>
          <p:nvPr>
            <p:ph idx="1"/>
          </p:nvPr>
        </p:nvSpPr>
        <p:spPr/>
        <p:txBody>
          <a:bodyPr>
            <a:normAutofit/>
          </a:bodyPr>
          <a:lstStyle/>
          <a:p>
            <a:r>
              <a:rPr lang="en-US" sz="2000" dirty="0" smtClean="0"/>
              <a:t>An activity represents a single screen with a user </a:t>
            </a:r>
            <a:r>
              <a:rPr lang="en-US" sz="2000" dirty="0" err="1" smtClean="0"/>
              <a:t>interface,in</a:t>
            </a:r>
            <a:r>
              <a:rPr lang="en-US" sz="2000" dirty="0" smtClean="0"/>
              <a:t>-short Activity performs actions on the screen. For example, an email application might have one activity that shows a list of new emails, another activity to compose an email, and another activity for reading emails. If an application has more than one activity, then one of them should be marked as the activity that is presented when the application is launched.</a:t>
            </a:r>
          </a:p>
          <a:p>
            <a:r>
              <a:rPr lang="en-US" sz="2000" dirty="0" smtClean="0"/>
              <a:t>An activity is implemented as a subclass of </a:t>
            </a:r>
            <a:r>
              <a:rPr lang="en-US" sz="2000" b="1" dirty="0" smtClean="0"/>
              <a:t>Activity</a:t>
            </a:r>
            <a:r>
              <a:rPr lang="en-US" sz="2000" dirty="0" smtClean="0"/>
              <a:t> class as follows </a:t>
            </a:r>
            <a:r>
              <a:rPr lang="en-US" sz="2000" dirty="0" smtClean="0"/>
              <a:t>−</a:t>
            </a:r>
            <a:endParaRPr lang="en-US" sz="2000" dirty="0" smtClean="0"/>
          </a:p>
        </p:txBody>
      </p:sp>
      <p:sp>
        <p:nvSpPr>
          <p:cNvPr id="4" name="Rounded Rectangle 3"/>
          <p:cNvSpPr/>
          <p:nvPr/>
        </p:nvSpPr>
        <p:spPr>
          <a:xfrm>
            <a:off x="838200" y="4648200"/>
            <a:ext cx="5943600" cy="1143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295400" y="4953000"/>
            <a:ext cx="4572000" cy="646331"/>
          </a:xfrm>
          <a:prstGeom prst="rect">
            <a:avLst/>
          </a:prstGeom>
        </p:spPr>
        <p:txBody>
          <a:bodyPr wrap="square">
            <a:spAutoFit/>
          </a:bodyPr>
          <a:lstStyle/>
          <a:p>
            <a:pPr>
              <a:buNone/>
            </a:pPr>
            <a:r>
              <a:rPr lang="en-US" dirty="0" smtClean="0">
                <a:solidFill>
                  <a:srgbClr val="0070C0"/>
                </a:solidFill>
              </a:rPr>
              <a:t>public class </a:t>
            </a:r>
            <a:r>
              <a:rPr lang="en-US" dirty="0" err="1" smtClean="0">
                <a:solidFill>
                  <a:srgbClr val="0070C0"/>
                </a:solidFill>
              </a:rPr>
              <a:t>MainActivity</a:t>
            </a:r>
            <a:r>
              <a:rPr lang="en-US" dirty="0" smtClean="0">
                <a:solidFill>
                  <a:srgbClr val="0070C0"/>
                </a:solidFill>
              </a:rPr>
              <a:t> extends Activity { </a:t>
            </a:r>
          </a:p>
          <a:p>
            <a:pPr>
              <a:buNone/>
            </a:pPr>
            <a:r>
              <a:rPr lang="en-US" dirty="0" smtClean="0">
                <a:solidFill>
                  <a:srgbClr val="0070C0"/>
                </a:solidFill>
              </a:rPr>
              <a:t>}</a:t>
            </a:r>
            <a:endParaRPr lang="en-US" dirty="0">
              <a:solidFill>
                <a:srgbClr val="0070C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Services</a:t>
            </a:r>
            <a:endParaRPr lang="en-US" dirty="0"/>
          </a:p>
        </p:txBody>
      </p:sp>
      <p:sp>
        <p:nvSpPr>
          <p:cNvPr id="3" name="Content Placeholder 2"/>
          <p:cNvSpPr>
            <a:spLocks noGrp="1"/>
          </p:cNvSpPr>
          <p:nvPr>
            <p:ph idx="1"/>
          </p:nvPr>
        </p:nvSpPr>
        <p:spPr/>
        <p:txBody>
          <a:bodyPr/>
          <a:lstStyle/>
          <a:p>
            <a:r>
              <a:rPr lang="en-US" sz="2000" dirty="0" smtClean="0"/>
              <a:t>A </a:t>
            </a:r>
            <a:r>
              <a:rPr lang="en-US" sz="2000" dirty="0" smtClean="0"/>
              <a:t>service is a component that runs in the background to perform long-running operations. For example, a service might play music in the background while the user is in a different application, or it might fetch data over the network without blocking user interaction with an activity.</a:t>
            </a:r>
          </a:p>
          <a:p>
            <a:r>
              <a:rPr lang="en-US" sz="2000" dirty="0" smtClean="0"/>
              <a:t>A service is implemented as a subclass of </a:t>
            </a:r>
            <a:r>
              <a:rPr lang="en-US" sz="2000" b="1" dirty="0" smtClean="0"/>
              <a:t>Service</a:t>
            </a:r>
            <a:r>
              <a:rPr lang="en-US" sz="2000" dirty="0" smtClean="0"/>
              <a:t> class as follows −</a:t>
            </a:r>
            <a:endParaRPr lang="en-US" sz="2000" dirty="0" smtClean="0"/>
          </a:p>
        </p:txBody>
      </p:sp>
      <p:sp>
        <p:nvSpPr>
          <p:cNvPr id="4" name="Rounded Rectangle 3"/>
          <p:cNvSpPr/>
          <p:nvPr/>
        </p:nvSpPr>
        <p:spPr>
          <a:xfrm>
            <a:off x="990600" y="4267200"/>
            <a:ext cx="4648200" cy="914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rgbClr val="0070C0"/>
                </a:solidFill>
              </a:rPr>
              <a:t>public class </a:t>
            </a:r>
            <a:r>
              <a:rPr lang="en-US" dirty="0" err="1" smtClean="0">
                <a:solidFill>
                  <a:srgbClr val="0070C0"/>
                </a:solidFill>
              </a:rPr>
              <a:t>MyService</a:t>
            </a:r>
            <a:r>
              <a:rPr lang="en-US" dirty="0" smtClean="0">
                <a:solidFill>
                  <a:srgbClr val="0070C0"/>
                </a:solidFill>
              </a:rPr>
              <a:t> extends Service {</a:t>
            </a:r>
          </a:p>
          <a:p>
            <a:r>
              <a:rPr lang="en-US" dirty="0" smtClean="0">
                <a:solidFill>
                  <a:srgbClr val="0070C0"/>
                </a:solidFill>
              </a:rPr>
              <a:t> }</a:t>
            </a:r>
            <a:endParaRPr lang="en-US" dirty="0">
              <a:solidFill>
                <a:srgbClr val="0070C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Broadcast </a:t>
            </a:r>
            <a:r>
              <a:rPr lang="en-US" dirty="0" smtClean="0"/>
              <a:t>Receivers</a:t>
            </a:r>
            <a:endParaRPr lang="en-US" dirty="0"/>
          </a:p>
        </p:txBody>
      </p:sp>
      <p:sp>
        <p:nvSpPr>
          <p:cNvPr id="3" name="Content Placeholder 2"/>
          <p:cNvSpPr>
            <a:spLocks noGrp="1"/>
          </p:cNvSpPr>
          <p:nvPr>
            <p:ph idx="1"/>
          </p:nvPr>
        </p:nvSpPr>
        <p:spPr/>
        <p:txBody>
          <a:bodyPr/>
          <a:lstStyle/>
          <a:p>
            <a:r>
              <a:rPr lang="en-US" sz="2000" dirty="0" smtClean="0"/>
              <a:t>Broadcast Receivers simply respond to broadcast messages from other applications or from the system. For example, applications can also initiate broadcasts to let other applications know that some data has been downloaded to the device and is available for them to use, so this is broadcast receiver who will intercept this communication and will initiate appropriate action.</a:t>
            </a:r>
          </a:p>
          <a:p>
            <a:r>
              <a:rPr lang="en-US" sz="2000" dirty="0" smtClean="0"/>
              <a:t>A broadcast receiver is implemented as a subclass of </a:t>
            </a:r>
            <a:r>
              <a:rPr lang="en-US" sz="2000" b="1" dirty="0" err="1" smtClean="0"/>
              <a:t>BroadcastReceiver</a:t>
            </a:r>
            <a:r>
              <a:rPr lang="en-US" sz="2000" dirty="0" smtClean="0"/>
              <a:t> class and each message is broadcaster as an </a:t>
            </a:r>
            <a:r>
              <a:rPr lang="en-US" sz="2000" b="1" dirty="0" smtClean="0"/>
              <a:t>Intent</a:t>
            </a:r>
            <a:r>
              <a:rPr lang="en-US" sz="2000" dirty="0" smtClean="0"/>
              <a:t> object</a:t>
            </a:r>
            <a:r>
              <a:rPr lang="en-US" sz="2000" dirty="0" smtClean="0"/>
              <a:t>.</a:t>
            </a:r>
            <a:endParaRPr lang="en-US" sz="2000" dirty="0" smtClean="0"/>
          </a:p>
        </p:txBody>
      </p:sp>
      <p:sp>
        <p:nvSpPr>
          <p:cNvPr id="4" name="Rounded Rectangle 3"/>
          <p:cNvSpPr/>
          <p:nvPr/>
        </p:nvSpPr>
        <p:spPr>
          <a:xfrm>
            <a:off x="1066800" y="5029200"/>
            <a:ext cx="7162800" cy="1600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0070C0"/>
                </a:solidFill>
              </a:rPr>
              <a:t>public class </a:t>
            </a:r>
            <a:r>
              <a:rPr lang="en-US" dirty="0" err="1">
                <a:solidFill>
                  <a:srgbClr val="0070C0"/>
                </a:solidFill>
              </a:rPr>
              <a:t>MyReceiver</a:t>
            </a:r>
            <a:r>
              <a:rPr lang="en-US" dirty="0">
                <a:solidFill>
                  <a:srgbClr val="0070C0"/>
                </a:solidFill>
              </a:rPr>
              <a:t> extends </a:t>
            </a:r>
            <a:r>
              <a:rPr lang="en-US" dirty="0" err="1">
                <a:solidFill>
                  <a:srgbClr val="0070C0"/>
                </a:solidFill>
              </a:rPr>
              <a:t>BroadcastReceiver</a:t>
            </a:r>
            <a:r>
              <a:rPr lang="en-US" dirty="0">
                <a:solidFill>
                  <a:srgbClr val="0070C0"/>
                </a:solidFill>
              </a:rPr>
              <a:t> { </a:t>
            </a:r>
            <a:endParaRPr lang="en-US" dirty="0" smtClean="0">
              <a:solidFill>
                <a:srgbClr val="0070C0"/>
              </a:solidFill>
            </a:endParaRPr>
          </a:p>
          <a:p>
            <a:r>
              <a:rPr lang="en-US" dirty="0" smtClean="0">
                <a:solidFill>
                  <a:srgbClr val="0070C0"/>
                </a:solidFill>
              </a:rPr>
              <a:t>	public </a:t>
            </a:r>
            <a:r>
              <a:rPr lang="en-US" dirty="0">
                <a:solidFill>
                  <a:srgbClr val="0070C0"/>
                </a:solidFill>
              </a:rPr>
              <a:t>void </a:t>
            </a:r>
            <a:r>
              <a:rPr lang="en-US" dirty="0" err="1">
                <a:solidFill>
                  <a:srgbClr val="0070C0"/>
                </a:solidFill>
              </a:rPr>
              <a:t>onReceive</a:t>
            </a:r>
            <a:r>
              <a:rPr lang="en-US" dirty="0">
                <a:solidFill>
                  <a:srgbClr val="0070C0"/>
                </a:solidFill>
              </a:rPr>
              <a:t>(</a:t>
            </a:r>
            <a:r>
              <a:rPr lang="en-US" dirty="0" err="1">
                <a:solidFill>
                  <a:srgbClr val="0070C0"/>
                </a:solidFill>
              </a:rPr>
              <a:t>context,intent</a:t>
            </a:r>
            <a:r>
              <a:rPr lang="en-US" dirty="0" smtClean="0">
                <a:solidFill>
                  <a:srgbClr val="0070C0"/>
                </a:solidFill>
              </a:rPr>
              <a:t>){</a:t>
            </a:r>
          </a:p>
          <a:p>
            <a:r>
              <a:rPr lang="en-US" dirty="0" smtClean="0">
                <a:solidFill>
                  <a:srgbClr val="0070C0"/>
                </a:solidFill>
              </a:rPr>
              <a:t>		} </a:t>
            </a:r>
          </a:p>
          <a:p>
            <a:r>
              <a:rPr lang="en-US" dirty="0" smtClean="0">
                <a:solidFill>
                  <a:srgbClr val="0070C0"/>
                </a:solidFill>
              </a:rPr>
              <a:t>}</a:t>
            </a:r>
            <a:endParaRPr lang="en-US" dirty="0">
              <a:solidFill>
                <a:srgbClr val="0070C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Content </a:t>
            </a:r>
            <a:r>
              <a:rPr lang="en-US" dirty="0" smtClean="0"/>
              <a:t>Providers</a:t>
            </a:r>
            <a:endParaRPr lang="en-US" dirty="0"/>
          </a:p>
        </p:txBody>
      </p:sp>
      <p:sp>
        <p:nvSpPr>
          <p:cNvPr id="3" name="Content Placeholder 2"/>
          <p:cNvSpPr>
            <a:spLocks noGrp="1"/>
          </p:cNvSpPr>
          <p:nvPr>
            <p:ph idx="1"/>
          </p:nvPr>
        </p:nvSpPr>
        <p:spPr/>
        <p:txBody>
          <a:bodyPr>
            <a:normAutofit/>
          </a:bodyPr>
          <a:lstStyle/>
          <a:p>
            <a:r>
              <a:rPr lang="en-US" sz="2000" dirty="0" smtClean="0"/>
              <a:t>A content provider component supplies data from one application to others on request. Such requests are handled by the methods of the </a:t>
            </a:r>
            <a:r>
              <a:rPr lang="en-US" sz="2000" i="1" dirty="0" err="1" smtClean="0"/>
              <a:t>ContentResolver</a:t>
            </a:r>
            <a:r>
              <a:rPr lang="en-US" sz="2000" dirty="0" smtClean="0"/>
              <a:t> class. The data may be stored in the file system, the database or somewhere else entirely.</a:t>
            </a:r>
          </a:p>
          <a:p>
            <a:r>
              <a:rPr lang="en-US" sz="2000" dirty="0" smtClean="0"/>
              <a:t>A content provider is implemented as a subclass of </a:t>
            </a:r>
            <a:r>
              <a:rPr lang="en-US" sz="2000" b="1" dirty="0" err="1" smtClean="0"/>
              <a:t>ContentProvider</a:t>
            </a:r>
            <a:r>
              <a:rPr lang="en-US" sz="2000" dirty="0" smtClean="0"/>
              <a:t> class and must implement a standard set of APIs that enable other applications to perform transactions</a:t>
            </a:r>
            <a:r>
              <a:rPr lang="en-US" sz="2000" dirty="0" smtClean="0"/>
              <a:t>.</a:t>
            </a:r>
            <a:endParaRPr lang="en-US" sz="2000" dirty="0" smtClean="0"/>
          </a:p>
        </p:txBody>
      </p:sp>
      <p:sp>
        <p:nvSpPr>
          <p:cNvPr id="4" name="Rounded Rectangle 3"/>
          <p:cNvSpPr/>
          <p:nvPr/>
        </p:nvSpPr>
        <p:spPr>
          <a:xfrm>
            <a:off x="990600" y="4495800"/>
            <a:ext cx="6553200" cy="1828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rgbClr val="0070C0"/>
                </a:solidFill>
              </a:rPr>
              <a:t>public class </a:t>
            </a:r>
            <a:r>
              <a:rPr lang="en-US" dirty="0" err="1" smtClean="0">
                <a:solidFill>
                  <a:srgbClr val="0070C0"/>
                </a:solidFill>
              </a:rPr>
              <a:t>MyContentProvider</a:t>
            </a:r>
            <a:r>
              <a:rPr lang="en-US" dirty="0" smtClean="0">
                <a:solidFill>
                  <a:srgbClr val="0070C0"/>
                </a:solidFill>
              </a:rPr>
              <a:t> extends </a:t>
            </a:r>
            <a:r>
              <a:rPr lang="en-US" dirty="0" err="1" smtClean="0">
                <a:solidFill>
                  <a:srgbClr val="0070C0"/>
                </a:solidFill>
              </a:rPr>
              <a:t>ContentProvider</a:t>
            </a:r>
            <a:r>
              <a:rPr lang="en-US" dirty="0" smtClean="0">
                <a:solidFill>
                  <a:srgbClr val="0070C0"/>
                </a:solidFill>
              </a:rPr>
              <a:t> { 	public void </a:t>
            </a:r>
            <a:r>
              <a:rPr lang="en-US" dirty="0" err="1" smtClean="0">
                <a:solidFill>
                  <a:srgbClr val="0070C0"/>
                </a:solidFill>
              </a:rPr>
              <a:t>onCreate</a:t>
            </a:r>
            <a:r>
              <a:rPr lang="en-US" dirty="0" smtClean="0">
                <a:solidFill>
                  <a:srgbClr val="0070C0"/>
                </a:solidFill>
              </a:rPr>
              <a:t>(){</a:t>
            </a:r>
          </a:p>
          <a:p>
            <a:r>
              <a:rPr lang="en-US" dirty="0">
                <a:solidFill>
                  <a:srgbClr val="0070C0"/>
                </a:solidFill>
              </a:rPr>
              <a:t>	</a:t>
            </a:r>
            <a:r>
              <a:rPr lang="en-US" dirty="0" smtClean="0">
                <a:solidFill>
                  <a:srgbClr val="0070C0"/>
                </a:solidFill>
              </a:rPr>
              <a:t>} </a:t>
            </a:r>
          </a:p>
          <a:p>
            <a:r>
              <a:rPr lang="en-US" dirty="0" smtClean="0">
                <a:solidFill>
                  <a:srgbClr val="0070C0"/>
                </a:solidFil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UI Layout</a:t>
            </a:r>
            <a:endParaRPr lang="en-US" dirty="0"/>
          </a:p>
        </p:txBody>
      </p:sp>
      <p:sp>
        <p:nvSpPr>
          <p:cNvPr id="3" name="Content Placeholder 2"/>
          <p:cNvSpPr>
            <a:spLocks noGrp="1"/>
          </p:cNvSpPr>
          <p:nvPr>
            <p:ph idx="1"/>
          </p:nvPr>
        </p:nvSpPr>
        <p:spPr/>
        <p:txBody>
          <a:bodyPr>
            <a:normAutofit/>
          </a:bodyPr>
          <a:lstStyle/>
          <a:p>
            <a:r>
              <a:rPr lang="en-US" sz="2000" dirty="0" smtClean="0"/>
              <a:t>The basic building block for user interface is a </a:t>
            </a:r>
            <a:r>
              <a:rPr lang="en-US" sz="2000" b="1" dirty="0" smtClean="0"/>
              <a:t>View</a:t>
            </a:r>
            <a:r>
              <a:rPr lang="en-US" sz="2000" dirty="0" smtClean="0"/>
              <a:t> object which is created from the View class and occupies a rectangular area on the screen and is responsible for drawing and event handling. View is the base class for widgets, which are used to create interactive UI components like buttons, text fields, etc</a:t>
            </a:r>
            <a:r>
              <a:rPr lang="en-US" sz="2000" dirty="0" smtClean="0"/>
              <a:t>.</a:t>
            </a:r>
          </a:p>
          <a:p>
            <a:r>
              <a:rPr lang="en-US" sz="2000" dirty="0" smtClean="0"/>
              <a:t>The </a:t>
            </a:r>
            <a:r>
              <a:rPr lang="en-US" sz="2000" b="1" dirty="0" err="1" smtClean="0"/>
              <a:t>ViewGroup</a:t>
            </a:r>
            <a:r>
              <a:rPr lang="en-US" sz="2000" dirty="0" smtClean="0"/>
              <a:t> is a subclass of </a:t>
            </a:r>
            <a:r>
              <a:rPr lang="en-US" sz="2000" b="1" dirty="0" smtClean="0"/>
              <a:t>View</a:t>
            </a:r>
            <a:r>
              <a:rPr lang="en-US" sz="2000" dirty="0" smtClean="0"/>
              <a:t> and provides invisible container that hold other Views or other </a:t>
            </a:r>
            <a:r>
              <a:rPr lang="en-US" sz="2000" dirty="0" err="1" smtClean="0"/>
              <a:t>ViewGroup</a:t>
            </a:r>
            <a:endParaRPr lang="en-US" sz="2000" dirty="0" smtClean="0"/>
          </a:p>
          <a:p>
            <a:r>
              <a:rPr lang="en-US" sz="2000" dirty="0" smtClean="0"/>
              <a:t>At third level we have different layouts which are subclasses of </a:t>
            </a:r>
            <a:r>
              <a:rPr lang="en-US" sz="2000" dirty="0" err="1" smtClean="0"/>
              <a:t>ViewGroup</a:t>
            </a:r>
            <a:r>
              <a:rPr lang="en-US" sz="2000" dirty="0" smtClean="0"/>
              <a:t> class and a typical layout defines the visual structure for an Android user interface and can be created either at run time using </a:t>
            </a:r>
            <a:r>
              <a:rPr lang="en-US" sz="2000" b="1" dirty="0" smtClean="0"/>
              <a:t>View/</a:t>
            </a:r>
            <a:r>
              <a:rPr lang="en-US" sz="2000" b="1" dirty="0" err="1" smtClean="0"/>
              <a:t>ViewGroup</a:t>
            </a:r>
            <a:r>
              <a:rPr lang="en-US" sz="2000" dirty="0" smtClean="0"/>
              <a:t> objects or you can declare your layout using simple XML file </a:t>
            </a:r>
            <a:r>
              <a:rPr lang="en-US" sz="2000" b="1" dirty="0" smtClean="0"/>
              <a:t>main_layout.xml</a:t>
            </a:r>
            <a:r>
              <a:rPr lang="en-US" sz="2000" dirty="0" smtClean="0"/>
              <a:t> which is located in the res/layout folder of your </a:t>
            </a:r>
            <a:r>
              <a:rPr lang="en-US" sz="2000" dirty="0" err="1" smtClean="0"/>
              <a:t>project.</a:t>
            </a:r>
            <a:r>
              <a:rPr lang="en-US" sz="2000" dirty="0" err="1" smtClean="0"/>
              <a:t>s</a:t>
            </a:r>
            <a:r>
              <a:rPr lang="en-US" sz="2000" dirty="0" smtClean="0"/>
              <a:t> </a:t>
            </a:r>
            <a:r>
              <a:rPr lang="en-US" sz="2000" dirty="0" smtClean="0"/>
              <a:t>and define their layout properties.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Layout Structure</a:t>
            </a:r>
            <a:endParaRPr lang="en-US" dirty="0"/>
          </a:p>
        </p:txBody>
      </p:sp>
      <p:pic>
        <p:nvPicPr>
          <p:cNvPr id="24578" name="Picture 2"/>
          <p:cNvPicPr>
            <a:picLocks noChangeAspect="1" noChangeArrowheads="1"/>
          </p:cNvPicPr>
          <p:nvPr/>
        </p:nvPicPr>
        <p:blipFill>
          <a:blip r:embed="rId2"/>
          <a:srcRect/>
          <a:stretch>
            <a:fillRect/>
          </a:stretch>
        </p:blipFill>
        <p:spPr bwMode="auto">
          <a:xfrm>
            <a:off x="609600" y="1905000"/>
            <a:ext cx="7620000" cy="417576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UI Controls</a:t>
            </a:r>
            <a:endParaRPr lang="en-US" dirty="0"/>
          </a:p>
        </p:txBody>
      </p:sp>
      <p:sp>
        <p:nvSpPr>
          <p:cNvPr id="3" name="Content Placeholder 2"/>
          <p:cNvSpPr>
            <a:spLocks noGrp="1"/>
          </p:cNvSpPr>
          <p:nvPr>
            <p:ph idx="1"/>
          </p:nvPr>
        </p:nvSpPr>
        <p:spPr>
          <a:xfrm>
            <a:off x="457200" y="1935480"/>
            <a:ext cx="8229600" cy="4617720"/>
          </a:xfrm>
        </p:spPr>
        <p:txBody>
          <a:bodyPr>
            <a:normAutofit/>
          </a:bodyPr>
          <a:lstStyle/>
          <a:p>
            <a:r>
              <a:rPr lang="en-US" sz="2000" dirty="0" smtClean="0"/>
              <a:t>Input controls are the interactive components in your app's user interface. Android provides a wide variety of controls you can use in your UI, such as buttons, text fields, seek bars, check box, zoom buttons, toggle buttons, and many more</a:t>
            </a:r>
            <a:r>
              <a:rPr lang="en-US" sz="2000" dirty="0" smtClean="0"/>
              <a:t>.</a:t>
            </a:r>
          </a:p>
          <a:p>
            <a:pPr>
              <a:buNone/>
            </a:pPr>
            <a:r>
              <a:rPr lang="en-US" sz="2000" b="1" dirty="0" smtClean="0"/>
              <a:t>UI Elements</a:t>
            </a:r>
          </a:p>
          <a:p>
            <a:r>
              <a:rPr lang="en-US" sz="2000" dirty="0" smtClean="0"/>
              <a:t>A </a:t>
            </a:r>
            <a:r>
              <a:rPr lang="en-US" sz="2000" b="1" dirty="0" smtClean="0"/>
              <a:t>View</a:t>
            </a:r>
            <a:r>
              <a:rPr lang="en-US" sz="2000" dirty="0" smtClean="0"/>
              <a:t> is an object that draws something on the screen that the user can interact with and a </a:t>
            </a:r>
            <a:r>
              <a:rPr lang="en-US" sz="2000" b="1" dirty="0" err="1" smtClean="0"/>
              <a:t>ViewGroup</a:t>
            </a:r>
            <a:r>
              <a:rPr lang="en-US" sz="2000" dirty="0" smtClean="0"/>
              <a:t> is an object that holds other View (and </a:t>
            </a:r>
            <a:r>
              <a:rPr lang="en-US" sz="2000" dirty="0" err="1" smtClean="0"/>
              <a:t>ViewGroup</a:t>
            </a:r>
            <a:r>
              <a:rPr lang="en-US" sz="2000" dirty="0" smtClean="0"/>
              <a:t>) objects in order to define the layout of the user interface</a:t>
            </a:r>
            <a:r>
              <a:rPr lang="en-US" sz="2000" dirty="0" smtClean="0"/>
              <a:t>.</a:t>
            </a:r>
            <a:endParaRPr lang="en-US" sz="2000" dirty="0" smtClean="0"/>
          </a:p>
        </p:txBody>
      </p:sp>
      <p:pic>
        <p:nvPicPr>
          <p:cNvPr id="25603" name="Picture 3"/>
          <p:cNvPicPr>
            <a:picLocks noChangeAspect="1" noChangeArrowheads="1"/>
          </p:cNvPicPr>
          <p:nvPr/>
        </p:nvPicPr>
        <p:blipFill>
          <a:blip r:embed="rId2"/>
          <a:srcRect/>
          <a:stretch>
            <a:fillRect/>
          </a:stretch>
        </p:blipFill>
        <p:spPr bwMode="auto">
          <a:xfrm>
            <a:off x="2133600" y="4648200"/>
            <a:ext cx="4114800" cy="1524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a:bodyPr>
          <a:lstStyle/>
          <a:p>
            <a:r>
              <a:rPr lang="en-US" sz="2000" dirty="0" smtClean="0"/>
              <a:t>All Google services can you have with one operating system, namely “Android”. By Android versions its features are increased rapidly. So most of the users like Android smart phones, and it is best OS among all other OS like </a:t>
            </a:r>
            <a:r>
              <a:rPr lang="en-US" sz="2000" dirty="0" smtClean="0"/>
              <a:t>windows</a:t>
            </a:r>
            <a:r>
              <a:rPr lang="en-US" sz="2000" dirty="0" smtClean="0"/>
              <a:t>, </a:t>
            </a:r>
            <a:r>
              <a:rPr lang="en-US" sz="2000" dirty="0" err="1" smtClean="0"/>
              <a:t>iOS</a:t>
            </a:r>
            <a:r>
              <a:rPr lang="en-US" sz="2000" dirty="0" smtClean="0"/>
              <a:t>.</a:t>
            </a:r>
          </a:p>
          <a:p>
            <a:r>
              <a:rPr lang="en-US" sz="2000" dirty="0" smtClean="0"/>
              <a:t>When a device goes from just working to actually making life easier, Android is behind it. It's the reason your GPS avoids traffic, your watch can text and your Assistant can answer questions. It's the operating system inside 2.5 billion active devices.</a:t>
            </a:r>
            <a:endParaRPr lang="en-US" sz="20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213</TotalTime>
  <Words>611</Words>
  <Application>Microsoft Office PowerPoint</Application>
  <PresentationFormat>On-screen Show (4:3)</PresentationFormat>
  <Paragraphs>55</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Flow</vt:lpstr>
      <vt:lpstr>App Development</vt:lpstr>
      <vt:lpstr>Android</vt:lpstr>
      <vt:lpstr>Android application</vt:lpstr>
      <vt:lpstr>Versions of Android</vt:lpstr>
      <vt:lpstr>Pre-requisites</vt:lpstr>
      <vt:lpstr>Android Architecture</vt:lpstr>
      <vt:lpstr>Application Components</vt:lpstr>
      <vt:lpstr>Activities</vt:lpstr>
      <vt:lpstr>Services</vt:lpstr>
      <vt:lpstr>Broadcast Receivers</vt:lpstr>
      <vt:lpstr>Content Providers</vt:lpstr>
      <vt:lpstr>UI Layout</vt:lpstr>
      <vt:lpstr>Layout Structure</vt:lpstr>
      <vt:lpstr>UI Controls</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App Development</dc:title>
  <dc:creator>student</dc:creator>
  <cp:lastModifiedBy>student</cp:lastModifiedBy>
  <cp:revision>52</cp:revision>
  <dcterms:created xsi:type="dcterms:W3CDTF">2023-09-12T04:55:51Z</dcterms:created>
  <dcterms:modified xsi:type="dcterms:W3CDTF">2023-09-12T08:29:28Z</dcterms:modified>
</cp:coreProperties>
</file>